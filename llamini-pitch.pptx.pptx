
<file path=[Content_Types].xml><?xml version="1.0" encoding="utf-8"?>
<Types xmlns="http://schemas.openxmlformats.org/package/2006/content-types">
  <Default ContentType="application/x-fontdata" Extension="fntdata"/>
  <Default ContentType="image/jpeg" Extension="jpeg"/>
  <Default ContentType="video/mp4" Extension="mp4"/>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Segoe UI Bold" charset="1" panose="020B0802040204020203"/>
      <p:regular r:id="rId23"/>
    </p:embeddedFont>
    <p:embeddedFont>
      <p:font typeface="Segoe UI" charset="1" panose="020B0502040204020203"/>
      <p:regular r:id="rId24"/>
    </p:embeddedFont>
    <p:embeddedFont>
      <p:font typeface="Consolas Bold" charset="1" panose="020B0709020204030204"/>
      <p:regular r:id="rId25"/>
    </p:embeddedFont>
    <p:embeddedFont>
      <p:font typeface="Consolas" charset="1" panose="020B060902020403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fonts/font27.fntdata" Type="http://schemas.openxmlformats.org/officeDocument/2006/relationships/font"/><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RUN OF SHOW (~8 min with tape, ~10 with Q&amp;A)</a:t>
            </a:r>
          </a:p>
          <a:p>
            <a:r>
              <a:rPr lang="en-US"/>
              <a:t>  0:00–0:40  Slides 1–3. Title, why it exists, what shipped. Then play the tape.</a:t>
            </a:r>
          </a:p>
          <a:p>
            <a:r>
              <a:rPr lang="en-US"/>
              <a:t>  0:40–5:40  Slide 4 — do not talk over the video. Voiceover is already in it.</a:t>
            </a:r>
          </a:p>
          <a:p>
            <a:r>
              <a:rPr lang="en-US"/>
              <a:t>  5:40–6:00  Slide 5 recap only if a judge walked in late. Otherwise skip to Q&amp;A.</a:t>
            </a:r>
          </a:p>
          <a:p>
            <a:r>
              <a:rPr lang="en-US"/>
              <a:t>  Q&amp;A ammo:  6 ldd  ·  8–9 four archs / PPL  ·  10–11 memory + why  ·  12 limits</a:t>
            </a:r>
          </a:p>
          <a:p>
            <a:r>
              <a:rPr lang="en-US"/>
              <a:t>  Skip 7 (package table) unless someone asks what replaced ggml.</a:t>
            </a:r>
          </a:p>
          <a:p>
            <a:r>
              <a:rPr lang="en-US"/>
              <a:t/>
            </a:r>
          </a:p>
          <a:p>
            <a:r>
              <a:rPr lang="en-US"/>
              <a:t>Cold open, matching Scene 1 of the demo video.</a:t>
            </a:r>
          </a:p>
          <a:p>
            <a:r>
              <a:rPr lang="en-US"/>
              <a:t/>
            </a:r>
          </a:p>
          <a:p>
            <a:r>
              <a:rPr lang="en-US"/>
              <a:t>Say: llama.cpp runs inside Ollama, GPT4All, LM Studio — tools with over a hundred million downloads between them. This is what's actually inside it, rebuilt from scratch in C, with nothing but libc and POSIX. No ggml, no Python, no packages.</a:t>
            </a:r>
          </a:p>
          <a:p>
            <a:r>
              <a:rPr lang="en-US"/>
              <a:t/>
            </a:r>
          </a:p>
          <a:p>
            <a:r>
              <a:rPr lang="en-US"/>
              <a:t>Then advance. If the room is already warm, skip 2–3 and go straight to the tape.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 not overclaim. Say out loud: this is a hackathon-scale reimplementation of the core, not a production alternative to llama.cpp inside Ollama.</a:t>
            </a:r>
          </a:p>
          <a:p>
            <a:r>
              <a:rPr lang="en-US"/>
              <a:t/>
            </a:r>
          </a:p>
          <a:p>
            <a:r>
              <a:rPr lang="en-US"/>
              <a:t>The value is legibility. GGUF, block dequant, RoPE, GQA — not a black box that has to be taken on faith from one upstream codebase.</a:t>
            </a:r>
          </a:p>
          <a:p>
            <a:r>
              <a:rPr lang="en-US"/>
              <a:t/>
            </a:r>
          </a:p>
          <a:p>
            <a:r>
              <a:rPr lang="en-US"/>
              <a:t>vLLM is NOT on this list (separate engine). Don't add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claim before the tape. Keep it short. The video will prove the build, the zero-download test, live inference, and ldd.</a:t>
            </a:r>
          </a:p>
          <a:p>
            <a:r>
              <a:rPr lang="en-US"/>
              <a:t/>
            </a:r>
          </a:p>
          <a:p>
            <a:r>
              <a:rPr lang="en-US"/>
              <a:t>Emphasize: a .gguf is runtime input you supply, like cat needing a file — not a build dependency.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this if a judge walked in late, or as a 20-second recap before Q&amp;A.</a:t>
            </a:r>
          </a:p>
          <a:p>
            <a:r>
              <a:rPr lang="en-US"/>
              <a:t/>
            </a:r>
          </a:p>
          <a:p>
            <a:r>
              <a:rPr lang="en-US"/>
              <a:t>Do not re-litigate the video. Point at 05 and 06 if you only have time for two.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Match Scene 8. If a judge asks about -pthread: this glibc merges pthread into libc.so.6; the thread pool still uses real pthreads, resolved from libc. See deps-proof.txt.</a:t>
            </a:r>
          </a:p>
          <a:p>
            <a:r>
              <a:rPr lang="en-US"/>
              <a:t/>
            </a:r>
          </a:p>
          <a:p>
            <a:r>
              <a:rPr lang="en-US"/>
              <a:t>If they ask 'why not just download the model': this slide's right card is the answer.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Package Killer bonus, stated as a table. Don't read every row.</a:t>
            </a:r>
          </a:p>
          <a:p>
            <a:r>
              <a:rPr lang="en-US"/>
              <a:t/>
            </a:r>
          </a:p>
          <a:p>
            <a:r>
              <a:rPr lang="en-US"/>
              <a:t>Say: every row has a rationale in STDLIB.md — including what we deliberately did NOT substitute (no true int8 quantized dot product, GPT-2 weights still eager).</a:t>
            </a:r>
          </a:p>
          <a:p>
            <a:r>
              <a:rPr lang="en-US"/>
              <a:t/>
            </a:r>
          </a:p>
          <a:p>
            <a:r>
              <a:rPr lang="en-US"/>
              <a:t>Scope, out loud: not a ggml reimplementation. Four families, the quants those files actually use, no GPU, no LoRA, no batching.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Match Scene 7. Hold each Config: line in the video so it's readable.</a:t>
            </a:r>
          </a:p>
          <a:p>
            <a:r>
              <a:rPr lang="en-US"/>
              <a:t/>
            </a:r>
          </a:p>
          <a:p>
            <a:r>
              <a:rPr lang="en-US"/>
              <a:t>Do not rank the four PPLs against each other without the ceiling caveat.</a:t>
            </a:r>
          </a:p>
          <a:p>
            <a:r>
              <a:rPr lang="en-US"/>
              <a:t/>
            </a:r>
          </a:p>
          <a:p>
            <a:r>
              <a:rPr lang="en-US"/>
              <a:t>Mistral was skipped on purpose: its GGUF architecture is literally 'llama', so loading it would prove nothing new. Gemma2 (softcapping, sliding window) was a scoping decision.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Match Scene 6. Freeze/zoom in the video on: Teacher-forced perplexity over 35 tokens: 20.58 and the session-summary block.</a:t>
            </a:r>
          </a:p>
          <a:p>
            <a:r>
              <a:rPr lang="en-US"/>
              <a:t/>
            </a:r>
          </a:p>
          <a:p>
            <a:r>
              <a:rPr lang="en-US"/>
              <a:t>WRITEUP confession worth having ready: an AI search once invented a TinyLlama PPL citation that was not in the paper. That's why --bench compares against the vocab ceiling, a number that needs no citation.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Match Scene 9. STAY ON MEMORY. If a judge asks about tok/s, say: directional only, different measurement (our --bench includes prefill; llama-bench tg32 is pure decode), and the VM noise drowns both. The unambiguous number is RSS on TinyLlama / Qwen / Gemma.</a:t>
            </a:r>
          </a:p>
          <a:p>
            <a:r>
              <a:rPr lang="en-US"/>
              <a:t/>
            </a:r>
          </a:p>
          <a:p>
            <a:r>
              <a:rPr lang="en-US"/>
              <a:t>Machine: i5-1235U, 16 GB host, WSL2 guest capped at ~7.6 GB — that's why Gemma was originally untestable.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'how' behind slide 10. Use it in Q&amp;A, not before the tape.</a:t>
            </a:r>
          </a:p>
          <a:p>
            <a:r>
              <a:rPr lang="en-US"/>
              <a:t/>
            </a:r>
          </a:p>
          <a:p>
            <a:r>
              <a:rPr lang="en-US"/>
              <a:t>Key sentence: we read ggml-cpu.c / quants.c, then reimplemented the two ideas inside libc+POSIX — we did not copy the source.</a:t>
            </a:r>
          </a:p>
          <a:p>
            <a:r>
              <a:rPr lang="en-US"/>
              <a:t/>
            </a:r>
          </a:p>
          <a:p>
            <a:r>
              <a:rPr lang="en-US"/>
              <a:t>If they ask why the lazy path isn't threaded: bandwidth-bound work racing for the same bytes isn't an obvious win, and threading it reopens the Gemma scratch-buffer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Don't walk every file unless asked. The two details worth volunteering:</a:t>
            </a:r>
          </a:p>
          <a:p>
            <a:r>
              <a:rPr lang="en-US"/>
              <a:t>1. GPT-2 is a separate module because folding fused QKV + LayerNorm + no-RoPE into model.c would have made that file worse, not better. It still reuses linear() and causal_mha().</a:t>
            </a:r>
          </a:p>
          <a:p>
            <a:r>
              <a:rPr lang="en-US"/>
              <a:t>2. generate_autoregressive prefills the whole prompt. Early on, a bug only embedded the last token — fluent English, disconnected from the input. Tests caught the off-by-one that followed.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Honesty is a scoring category here, not a vibe. If you only name two: single-turn, and GPT-2's eager weights (so the memory table doesn't look like a dodge).</a:t>
            </a:r>
          </a:p>
          <a:p>
            <a:r>
              <a:rPr lang="en-US"/>
              <a:t/>
            </a:r>
          </a:p>
          <a:p>
            <a:r>
              <a:rPr lang="en-US"/>
              <a:t>Chat template wrinkle: typing '&lt;/s&gt;' as text does NOT merge into the real EOS token. The prompt is built at token level and inserts eos_id directly.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Match Scene 10. Close on the repo, not a slogan.</a:t>
            </a:r>
          </a:p>
          <a:p>
            <a:r>
              <a:rPr lang="en-US"/>
              <a:t/>
            </a:r>
          </a:p>
          <a:p>
            <a:r>
              <a:rPr lang="en-US"/>
              <a:t>If time remains: offer to walk STDLIB.md live, or rerun --test / --bench.</a:t>
            </a:r>
          </a:p>
          <a:p>
            <a:r>
              <a:rPr lang="en-US"/>
              <a:t/>
            </a:r>
          </a:p>
          <a:p>
            <a:r>
              <a:rPr lang="en-US"/>
              <a:t>Q&amp;A likely hits: why not download models (TLS), why GPT-2 uses more RAM (eager weights), why Gemma PPL is higher (vocab ceiling), why no speed claim (measurement mismatch + VM noise).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VAHT3I7kLz4.mp4" Type="http://schemas.openxmlformats.org/officeDocument/2006/relationships/video"/><Relationship Id="rId4" Target="../media/VAHT3I7kLz4.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9814"/>
            <a:chOff x="0" y="0"/>
            <a:chExt cx="24402453" cy="146418"/>
          </a:xfrm>
        </p:grpSpPr>
        <p:sp>
          <p:nvSpPr>
            <p:cNvPr name="Freeform 3" id="3"/>
            <p:cNvSpPr/>
            <p:nvPr/>
          </p:nvSpPr>
          <p:spPr>
            <a:xfrm flipH="false" flipV="false" rot="0">
              <a:off x="0" y="0"/>
              <a:ext cx="24402414" cy="146431"/>
            </a:xfrm>
            <a:custGeom>
              <a:avLst/>
              <a:gdLst/>
              <a:ahLst/>
              <a:cxnLst/>
              <a:rect r="r" b="b" t="t" l="l"/>
              <a:pathLst>
                <a:path h="146431" w="24402414">
                  <a:moveTo>
                    <a:pt x="0" y="0"/>
                  </a:moveTo>
                  <a:lnTo>
                    <a:pt x="24402414" y="0"/>
                  </a:lnTo>
                  <a:lnTo>
                    <a:pt x="24402414" y="146431"/>
                  </a:lnTo>
                  <a:lnTo>
                    <a:pt x="0" y="146431"/>
                  </a:lnTo>
                  <a:close/>
                </a:path>
              </a:pathLst>
            </a:custGeom>
            <a:solidFill>
              <a:srgbClr val="3FB950"/>
            </a:solidFill>
          </p:spPr>
        </p:sp>
      </p:grpSp>
      <p:grpSp>
        <p:nvGrpSpPr>
          <p:cNvPr name="Group 4" id="4"/>
          <p:cNvGrpSpPr/>
          <p:nvPr/>
        </p:nvGrpSpPr>
        <p:grpSpPr>
          <a:xfrm rot="0">
            <a:off x="0" y="10185225"/>
            <a:ext cx="18301840" cy="109814"/>
            <a:chOff x="0" y="0"/>
            <a:chExt cx="24402453" cy="146418"/>
          </a:xfrm>
        </p:grpSpPr>
        <p:sp>
          <p:nvSpPr>
            <p:cNvPr name="Freeform 5" id="5"/>
            <p:cNvSpPr/>
            <p:nvPr/>
          </p:nvSpPr>
          <p:spPr>
            <a:xfrm flipH="false" flipV="false" rot="0">
              <a:off x="0" y="0"/>
              <a:ext cx="24402414" cy="146431"/>
            </a:xfrm>
            <a:custGeom>
              <a:avLst/>
              <a:gdLst/>
              <a:ahLst/>
              <a:cxnLst/>
              <a:rect r="r" b="b" t="t" l="l"/>
              <a:pathLst>
                <a:path h="146431" w="24402414">
                  <a:moveTo>
                    <a:pt x="0" y="0"/>
                  </a:moveTo>
                  <a:lnTo>
                    <a:pt x="24402414" y="0"/>
                  </a:lnTo>
                  <a:lnTo>
                    <a:pt x="24402414" y="146431"/>
                  </a:lnTo>
                  <a:lnTo>
                    <a:pt x="0" y="146431"/>
                  </a:lnTo>
                  <a:close/>
                </a:path>
              </a:pathLst>
            </a:custGeom>
            <a:solidFill>
              <a:srgbClr val="3FB950"/>
            </a:solidFill>
          </p:spPr>
        </p:sp>
      </p:grpSp>
      <p:sp>
        <p:nvSpPr>
          <p:cNvPr name="TextBox 6" id="6"/>
          <p:cNvSpPr txBox="true"/>
          <p:nvPr/>
        </p:nvSpPr>
        <p:spPr>
          <a:xfrm rot="0">
            <a:off x="1052312" y="1889303"/>
            <a:ext cx="16289188" cy="398516"/>
          </a:xfrm>
          <a:prstGeom prst="rect">
            <a:avLst/>
          </a:prstGeom>
        </p:spPr>
        <p:txBody>
          <a:bodyPr anchor="t" rtlCol="false" tIns="0" lIns="0" bIns="0" rIns="0">
            <a:spAutoFit/>
          </a:bodyPr>
          <a:lstStyle/>
          <a:p>
            <a:pPr algn="l">
              <a:lnSpc>
                <a:spcPts val="2269"/>
              </a:lnSpc>
            </a:pPr>
            <a:r>
              <a:rPr lang="en-US" sz="1801" b="true">
                <a:solidFill>
                  <a:srgbClr val="3FB950"/>
                </a:solidFill>
                <a:latin typeface="Segoe UI Bold"/>
                <a:ea typeface="Segoe UI Bold"/>
                <a:cs typeface="Segoe UI Bold"/>
                <a:sym typeface="Segoe UI Bold"/>
              </a:rPr>
              <a:t>ZERO DEPENDENCY HACKATHON  ·  TRACK F  ·  OPEN / WILDCARD</a:t>
            </a:r>
          </a:p>
        </p:txBody>
      </p:sp>
      <p:sp>
        <p:nvSpPr>
          <p:cNvPr name="TextBox 7" id="7"/>
          <p:cNvSpPr txBox="true"/>
          <p:nvPr/>
        </p:nvSpPr>
        <p:spPr>
          <a:xfrm rot="0">
            <a:off x="1052312" y="2537536"/>
            <a:ext cx="16289188" cy="1466126"/>
          </a:xfrm>
          <a:prstGeom prst="rect">
            <a:avLst/>
          </a:prstGeom>
        </p:spPr>
        <p:txBody>
          <a:bodyPr anchor="t" rtlCol="false" tIns="0" lIns="0" bIns="0" rIns="0">
            <a:spAutoFit/>
          </a:bodyPr>
          <a:lstStyle/>
          <a:p>
            <a:pPr algn="l">
              <a:lnSpc>
                <a:spcPts val="11348"/>
              </a:lnSpc>
            </a:pPr>
            <a:r>
              <a:rPr lang="en-US" sz="9007" b="true">
                <a:solidFill>
                  <a:srgbClr val="FFFFFF"/>
                </a:solidFill>
                <a:latin typeface="Segoe UI Bold"/>
                <a:ea typeface="Segoe UI Bold"/>
                <a:cs typeface="Segoe UI Bold"/>
                <a:sym typeface="Segoe UI Bold"/>
              </a:rPr>
              <a:t>llamini.cpp</a:t>
            </a:r>
          </a:p>
        </p:txBody>
      </p:sp>
      <p:sp>
        <p:nvSpPr>
          <p:cNvPr name="TextBox 8" id="8"/>
          <p:cNvSpPr txBox="true"/>
          <p:nvPr/>
        </p:nvSpPr>
        <p:spPr>
          <a:xfrm rot="0">
            <a:off x="1052312" y="4213317"/>
            <a:ext cx="15602855" cy="888482"/>
          </a:xfrm>
          <a:prstGeom prst="rect">
            <a:avLst/>
          </a:prstGeom>
        </p:spPr>
        <p:txBody>
          <a:bodyPr anchor="t" rtlCol="false" tIns="0" lIns="0" bIns="0" rIns="0">
            <a:spAutoFit/>
          </a:bodyPr>
          <a:lstStyle/>
          <a:p>
            <a:pPr algn="l">
              <a:lnSpc>
                <a:spcPts val="4539"/>
              </a:lnSpc>
            </a:pPr>
            <a:r>
              <a:rPr lang="en-US" sz="3602">
                <a:solidFill>
                  <a:srgbClr val="ECF1F5"/>
                </a:solidFill>
                <a:latin typeface="Segoe UI"/>
                <a:ea typeface="Segoe UI"/>
                <a:cs typeface="Segoe UI"/>
                <a:sym typeface="Segoe UI"/>
              </a:rPr>
              <a:t>A from-scratch llama.cpp core. Zero dependencies.</a:t>
            </a:r>
          </a:p>
        </p:txBody>
      </p:sp>
      <p:sp>
        <p:nvSpPr>
          <p:cNvPr name="TextBox 9" id="9"/>
          <p:cNvSpPr txBox="true"/>
          <p:nvPr/>
        </p:nvSpPr>
        <p:spPr>
          <a:xfrm rot="0">
            <a:off x="1052312" y="5105562"/>
            <a:ext cx="15602855" cy="682581"/>
          </a:xfrm>
          <a:prstGeom prst="rect">
            <a:avLst/>
          </a:prstGeom>
        </p:spPr>
        <p:txBody>
          <a:bodyPr anchor="t" rtlCol="false" tIns="0" lIns="0" bIns="0" rIns="0">
            <a:spAutoFit/>
          </a:bodyPr>
          <a:lstStyle/>
          <a:p>
            <a:pPr algn="l">
              <a:lnSpc>
                <a:spcPts val="3026"/>
              </a:lnSpc>
            </a:pPr>
            <a:r>
              <a:rPr lang="en-US" sz="2401">
                <a:solidFill>
                  <a:srgbClr val="8B949E"/>
                </a:solidFill>
                <a:latin typeface="Segoe UI"/>
                <a:ea typeface="Segoe UI"/>
                <a:cs typeface="Segoe UI"/>
                <a:sym typeface="Segoe UI"/>
              </a:rPr>
              <a:t>No ggml. No Python. No packages. libc and POSIX — and a Makefile.</a:t>
            </a:r>
          </a:p>
        </p:txBody>
      </p:sp>
      <p:grpSp>
        <p:nvGrpSpPr>
          <p:cNvPr name="Group 10" id="10"/>
          <p:cNvGrpSpPr/>
          <p:nvPr/>
        </p:nvGrpSpPr>
        <p:grpSpPr>
          <a:xfrm rot="0">
            <a:off x="948957" y="7606417"/>
            <a:ext cx="1272959" cy="600351"/>
            <a:chOff x="0" y="0"/>
            <a:chExt cx="1697279" cy="800468"/>
          </a:xfrm>
        </p:grpSpPr>
        <p:sp>
          <p:nvSpPr>
            <p:cNvPr name="Freeform 11" id="11"/>
            <p:cNvSpPr/>
            <p:nvPr/>
          </p:nvSpPr>
          <p:spPr>
            <a:xfrm flipH="false" flipV="false" rot="0">
              <a:off x="0" y="0"/>
              <a:ext cx="1697228" cy="800481"/>
            </a:xfrm>
            <a:custGeom>
              <a:avLst/>
              <a:gdLst/>
              <a:ahLst/>
              <a:cxnLst/>
              <a:rect r="r" b="b" t="t" l="l"/>
              <a:pathLst>
                <a:path h="800481" w="1697228">
                  <a:moveTo>
                    <a:pt x="0" y="320167"/>
                  </a:moveTo>
                  <a:cubicBezTo>
                    <a:pt x="0" y="143383"/>
                    <a:pt x="143383" y="0"/>
                    <a:pt x="320167" y="0"/>
                  </a:cubicBezTo>
                  <a:lnTo>
                    <a:pt x="1377061" y="0"/>
                  </a:lnTo>
                  <a:cubicBezTo>
                    <a:pt x="1553845" y="0"/>
                    <a:pt x="1697228" y="143383"/>
                    <a:pt x="1697228" y="320167"/>
                  </a:cubicBezTo>
                  <a:lnTo>
                    <a:pt x="1697228" y="480314"/>
                  </a:lnTo>
                  <a:cubicBezTo>
                    <a:pt x="1697228" y="657098"/>
                    <a:pt x="1553845" y="800481"/>
                    <a:pt x="1377061" y="800481"/>
                  </a:cubicBezTo>
                  <a:lnTo>
                    <a:pt x="320167" y="800481"/>
                  </a:lnTo>
                  <a:cubicBezTo>
                    <a:pt x="143383" y="800481"/>
                    <a:pt x="0" y="657098"/>
                    <a:pt x="0" y="480314"/>
                  </a:cubicBezTo>
                  <a:close/>
                </a:path>
              </a:pathLst>
            </a:custGeom>
            <a:solidFill>
              <a:srgbClr val="141820"/>
            </a:solidFill>
            <a:ln w="23831" cap="sq">
              <a:solidFill>
                <a:srgbClr val="3FB950"/>
              </a:solidFill>
              <a:prstDash val="solid"/>
              <a:miter/>
            </a:ln>
          </p:spPr>
        </p:sp>
      </p:grpSp>
      <p:grpSp>
        <p:nvGrpSpPr>
          <p:cNvPr name="Group 12" id="12"/>
          <p:cNvGrpSpPr/>
          <p:nvPr/>
        </p:nvGrpSpPr>
        <p:grpSpPr>
          <a:xfrm rot="0">
            <a:off x="960872" y="7686961"/>
            <a:ext cx="1249128" cy="480431"/>
            <a:chOff x="0" y="0"/>
            <a:chExt cx="1665503" cy="640575"/>
          </a:xfrm>
        </p:grpSpPr>
        <p:sp>
          <p:nvSpPr>
            <p:cNvPr name="Freeform 13" id="13"/>
            <p:cNvSpPr/>
            <p:nvPr/>
          </p:nvSpPr>
          <p:spPr>
            <a:xfrm flipH="false" flipV="false" rot="0">
              <a:off x="0" y="0"/>
              <a:ext cx="1665509" cy="640580"/>
            </a:xfrm>
            <a:custGeom>
              <a:avLst/>
              <a:gdLst/>
              <a:ahLst/>
              <a:cxnLst/>
              <a:rect r="r" b="b" t="t" l="l"/>
              <a:pathLst>
                <a:path h="640580" w="1665509">
                  <a:moveTo>
                    <a:pt x="0" y="0"/>
                  </a:moveTo>
                  <a:lnTo>
                    <a:pt x="1665509" y="0"/>
                  </a:lnTo>
                  <a:lnTo>
                    <a:pt x="1665509" y="640580"/>
                  </a:lnTo>
                  <a:lnTo>
                    <a:pt x="0" y="640580"/>
                  </a:lnTo>
                  <a:close/>
                </a:path>
              </a:pathLst>
            </a:custGeom>
            <a:blipFill>
              <a:blip r:embed="rId3">
                <a:alphaModFix amt="0"/>
              </a:blip>
              <a:stretch>
                <a:fillRect l="0" t="-661" r="0" b="-660"/>
              </a:stretch>
            </a:blipFill>
          </p:spPr>
        </p:sp>
        <p:sp>
          <p:nvSpPr>
            <p:cNvPr name="TextBox 14" id="14"/>
            <p:cNvSpPr txBox="true"/>
            <p:nvPr/>
          </p:nvSpPr>
          <p:spPr>
            <a:xfrm>
              <a:off x="0" y="-47625"/>
              <a:ext cx="1665503" cy="688200"/>
            </a:xfrm>
            <a:prstGeom prst="rect">
              <a:avLst/>
            </a:prstGeom>
          </p:spPr>
          <p:txBody>
            <a:bodyPr anchor="ctr" rtlCol="false" tIns="0" lIns="0" bIns="0" rIns="0"/>
            <a:lstStyle/>
            <a:p>
              <a:pPr algn="ctr">
                <a:lnSpc>
                  <a:spcPts val="2269"/>
                </a:lnSpc>
              </a:pPr>
              <a:r>
                <a:rPr lang="en-US" sz="1801" b="true">
                  <a:solidFill>
                    <a:srgbClr val="3FB950"/>
                  </a:solidFill>
                  <a:latin typeface="Consolas Bold"/>
                  <a:ea typeface="Consolas Bold"/>
                  <a:cs typeface="Consolas Bold"/>
                  <a:sym typeface="Consolas Bold"/>
                </a:rPr>
                <a:t>C99</a:t>
              </a:r>
            </a:p>
          </p:txBody>
        </p:sp>
      </p:grpSp>
      <p:grpSp>
        <p:nvGrpSpPr>
          <p:cNvPr name="Group 15" id="15"/>
          <p:cNvGrpSpPr/>
          <p:nvPr/>
        </p:nvGrpSpPr>
        <p:grpSpPr>
          <a:xfrm rot="0">
            <a:off x="2445172" y="7606417"/>
            <a:ext cx="3084890" cy="600351"/>
            <a:chOff x="0" y="0"/>
            <a:chExt cx="4113187" cy="800468"/>
          </a:xfrm>
        </p:grpSpPr>
        <p:sp>
          <p:nvSpPr>
            <p:cNvPr name="Freeform 16" id="16"/>
            <p:cNvSpPr/>
            <p:nvPr/>
          </p:nvSpPr>
          <p:spPr>
            <a:xfrm flipH="false" flipV="false" rot="0">
              <a:off x="0" y="0"/>
              <a:ext cx="4113149" cy="800481"/>
            </a:xfrm>
            <a:custGeom>
              <a:avLst/>
              <a:gdLst/>
              <a:ahLst/>
              <a:cxnLst/>
              <a:rect r="r" b="b" t="t" l="l"/>
              <a:pathLst>
                <a:path h="800481" w="4113149">
                  <a:moveTo>
                    <a:pt x="0" y="320167"/>
                  </a:moveTo>
                  <a:cubicBezTo>
                    <a:pt x="0" y="143383"/>
                    <a:pt x="143383" y="0"/>
                    <a:pt x="320167" y="0"/>
                  </a:cubicBezTo>
                  <a:lnTo>
                    <a:pt x="3792982" y="0"/>
                  </a:lnTo>
                  <a:cubicBezTo>
                    <a:pt x="3969766" y="0"/>
                    <a:pt x="4113149" y="143383"/>
                    <a:pt x="4113149" y="320167"/>
                  </a:cubicBezTo>
                  <a:lnTo>
                    <a:pt x="4113149" y="480314"/>
                  </a:lnTo>
                  <a:cubicBezTo>
                    <a:pt x="4113149" y="657098"/>
                    <a:pt x="3969766" y="800481"/>
                    <a:pt x="3792982" y="800481"/>
                  </a:cubicBezTo>
                  <a:lnTo>
                    <a:pt x="320167" y="800481"/>
                  </a:lnTo>
                  <a:cubicBezTo>
                    <a:pt x="143383" y="800481"/>
                    <a:pt x="0" y="657098"/>
                    <a:pt x="0" y="480314"/>
                  </a:cubicBezTo>
                  <a:close/>
                </a:path>
              </a:pathLst>
            </a:custGeom>
            <a:solidFill>
              <a:srgbClr val="141820"/>
            </a:solidFill>
            <a:ln w="23831" cap="sq">
              <a:solidFill>
                <a:srgbClr val="3FB950"/>
              </a:solidFill>
              <a:prstDash val="solid"/>
              <a:miter/>
            </a:ln>
          </p:spPr>
        </p:sp>
      </p:grpSp>
      <p:grpSp>
        <p:nvGrpSpPr>
          <p:cNvPr name="Group 17" id="17"/>
          <p:cNvGrpSpPr/>
          <p:nvPr/>
        </p:nvGrpSpPr>
        <p:grpSpPr>
          <a:xfrm rot="0">
            <a:off x="2457088" y="7686961"/>
            <a:ext cx="3061059" cy="480431"/>
            <a:chOff x="0" y="0"/>
            <a:chExt cx="4081412" cy="640575"/>
          </a:xfrm>
        </p:grpSpPr>
        <p:sp>
          <p:nvSpPr>
            <p:cNvPr name="Freeform 18" id="18"/>
            <p:cNvSpPr/>
            <p:nvPr/>
          </p:nvSpPr>
          <p:spPr>
            <a:xfrm flipH="false" flipV="false" rot="0">
              <a:off x="0" y="0"/>
              <a:ext cx="4081413" cy="640580"/>
            </a:xfrm>
            <a:custGeom>
              <a:avLst/>
              <a:gdLst/>
              <a:ahLst/>
              <a:cxnLst/>
              <a:rect r="r" b="b" t="t" l="l"/>
              <a:pathLst>
                <a:path h="640580" w="4081413">
                  <a:moveTo>
                    <a:pt x="0" y="0"/>
                  </a:moveTo>
                  <a:lnTo>
                    <a:pt x="4081413" y="0"/>
                  </a:lnTo>
                  <a:lnTo>
                    <a:pt x="4081413" y="640580"/>
                  </a:lnTo>
                  <a:lnTo>
                    <a:pt x="0" y="640580"/>
                  </a:lnTo>
                  <a:close/>
                </a:path>
              </a:pathLst>
            </a:custGeom>
            <a:blipFill>
              <a:blip r:embed="rId3">
                <a:alphaModFix amt="0"/>
              </a:blip>
              <a:stretch>
                <a:fillRect l="0" t="-74147" r="0" b="-74147"/>
              </a:stretch>
            </a:blipFill>
          </p:spPr>
        </p:sp>
        <p:sp>
          <p:nvSpPr>
            <p:cNvPr name="TextBox 19" id="19"/>
            <p:cNvSpPr txBox="true"/>
            <p:nvPr/>
          </p:nvSpPr>
          <p:spPr>
            <a:xfrm>
              <a:off x="0" y="-47625"/>
              <a:ext cx="4081412" cy="688200"/>
            </a:xfrm>
            <a:prstGeom prst="rect">
              <a:avLst/>
            </a:prstGeom>
          </p:spPr>
          <p:txBody>
            <a:bodyPr anchor="ctr" rtlCol="false" tIns="0" lIns="0" bIns="0" rIns="0"/>
            <a:lstStyle/>
            <a:p>
              <a:pPr algn="ctr">
                <a:lnSpc>
                  <a:spcPts val="2269"/>
                </a:lnSpc>
              </a:pPr>
              <a:r>
                <a:rPr lang="en-US" sz="1801" b="true">
                  <a:solidFill>
                    <a:srgbClr val="3FB950"/>
                  </a:solidFill>
                  <a:latin typeface="Consolas Bold"/>
                  <a:ea typeface="Consolas Bold"/>
                  <a:cs typeface="Consolas Bold"/>
                  <a:sym typeface="Consolas Bold"/>
                </a:rPr>
                <a:t>empty manifest</a:t>
              </a:r>
            </a:p>
          </p:txBody>
        </p:sp>
      </p:grpSp>
      <p:grpSp>
        <p:nvGrpSpPr>
          <p:cNvPr name="Group 20" id="20"/>
          <p:cNvGrpSpPr/>
          <p:nvPr/>
        </p:nvGrpSpPr>
        <p:grpSpPr>
          <a:xfrm rot="0">
            <a:off x="5753310" y="7606417"/>
            <a:ext cx="3249606" cy="600351"/>
            <a:chOff x="0" y="0"/>
            <a:chExt cx="4332808" cy="800468"/>
          </a:xfrm>
        </p:grpSpPr>
        <p:sp>
          <p:nvSpPr>
            <p:cNvPr name="Freeform 21" id="21"/>
            <p:cNvSpPr/>
            <p:nvPr/>
          </p:nvSpPr>
          <p:spPr>
            <a:xfrm flipH="false" flipV="false" rot="0">
              <a:off x="0" y="0"/>
              <a:ext cx="4332732" cy="800481"/>
            </a:xfrm>
            <a:custGeom>
              <a:avLst/>
              <a:gdLst/>
              <a:ahLst/>
              <a:cxnLst/>
              <a:rect r="r" b="b" t="t" l="l"/>
              <a:pathLst>
                <a:path h="800481" w="4332732">
                  <a:moveTo>
                    <a:pt x="0" y="320167"/>
                  </a:moveTo>
                  <a:cubicBezTo>
                    <a:pt x="0" y="143383"/>
                    <a:pt x="143383" y="0"/>
                    <a:pt x="320167" y="0"/>
                  </a:cubicBezTo>
                  <a:lnTo>
                    <a:pt x="4012565" y="0"/>
                  </a:lnTo>
                  <a:cubicBezTo>
                    <a:pt x="4189349" y="0"/>
                    <a:pt x="4332732" y="143383"/>
                    <a:pt x="4332732" y="320167"/>
                  </a:cubicBezTo>
                  <a:lnTo>
                    <a:pt x="4332732" y="480314"/>
                  </a:lnTo>
                  <a:cubicBezTo>
                    <a:pt x="4332732" y="657098"/>
                    <a:pt x="4189349" y="800481"/>
                    <a:pt x="4012565" y="800481"/>
                  </a:cubicBezTo>
                  <a:lnTo>
                    <a:pt x="320167" y="800481"/>
                  </a:lnTo>
                  <a:cubicBezTo>
                    <a:pt x="143383" y="800481"/>
                    <a:pt x="0" y="657098"/>
                    <a:pt x="0" y="480314"/>
                  </a:cubicBezTo>
                  <a:close/>
                </a:path>
              </a:pathLst>
            </a:custGeom>
            <a:solidFill>
              <a:srgbClr val="141820"/>
            </a:solidFill>
            <a:ln w="23831" cap="sq">
              <a:solidFill>
                <a:srgbClr val="58A6FF"/>
              </a:solidFill>
              <a:prstDash val="solid"/>
              <a:miter/>
            </a:ln>
          </p:spPr>
        </p:sp>
      </p:grpSp>
      <p:grpSp>
        <p:nvGrpSpPr>
          <p:cNvPr name="Group 22" id="22"/>
          <p:cNvGrpSpPr/>
          <p:nvPr/>
        </p:nvGrpSpPr>
        <p:grpSpPr>
          <a:xfrm rot="0">
            <a:off x="5765225" y="7686961"/>
            <a:ext cx="3225775" cy="480431"/>
            <a:chOff x="0" y="0"/>
            <a:chExt cx="4301033" cy="640575"/>
          </a:xfrm>
        </p:grpSpPr>
        <p:sp>
          <p:nvSpPr>
            <p:cNvPr name="Freeform 23" id="23"/>
            <p:cNvSpPr/>
            <p:nvPr/>
          </p:nvSpPr>
          <p:spPr>
            <a:xfrm flipH="false" flipV="false" rot="0">
              <a:off x="0" y="0"/>
              <a:ext cx="4301038" cy="640580"/>
            </a:xfrm>
            <a:custGeom>
              <a:avLst/>
              <a:gdLst/>
              <a:ahLst/>
              <a:cxnLst/>
              <a:rect r="r" b="b" t="t" l="l"/>
              <a:pathLst>
                <a:path h="640580" w="4301038">
                  <a:moveTo>
                    <a:pt x="0" y="0"/>
                  </a:moveTo>
                  <a:lnTo>
                    <a:pt x="4301038" y="0"/>
                  </a:lnTo>
                  <a:lnTo>
                    <a:pt x="4301038" y="640580"/>
                  </a:lnTo>
                  <a:lnTo>
                    <a:pt x="0" y="640580"/>
                  </a:lnTo>
                  <a:close/>
                </a:path>
              </a:pathLst>
            </a:custGeom>
            <a:blipFill>
              <a:blip r:embed="rId3">
                <a:alphaModFix amt="0"/>
              </a:blip>
              <a:stretch>
                <a:fillRect l="0" t="-80828" r="0" b="-80827"/>
              </a:stretch>
            </a:blipFill>
          </p:spPr>
        </p:sp>
        <p:sp>
          <p:nvSpPr>
            <p:cNvPr name="TextBox 24" id="24"/>
            <p:cNvSpPr txBox="true"/>
            <p:nvPr/>
          </p:nvSpPr>
          <p:spPr>
            <a:xfrm>
              <a:off x="0" y="-47625"/>
              <a:ext cx="4301033" cy="688200"/>
            </a:xfrm>
            <a:prstGeom prst="rect">
              <a:avLst/>
            </a:prstGeom>
          </p:spPr>
          <p:txBody>
            <a:bodyPr anchor="ctr" rtlCol="false" tIns="0" lIns="0" bIns="0" rIns="0"/>
            <a:lstStyle/>
            <a:p>
              <a:pPr algn="ctr">
                <a:lnSpc>
                  <a:spcPts val="2269"/>
                </a:lnSpc>
              </a:pPr>
              <a:r>
                <a:rPr lang="en-US" sz="1801" b="true">
                  <a:solidFill>
                    <a:srgbClr val="58A6FF"/>
                  </a:solidFill>
                  <a:latin typeface="Consolas Bold"/>
                  <a:ea typeface="Consolas Bold"/>
                  <a:cs typeface="Consolas Bold"/>
                  <a:sym typeface="Consolas Bold"/>
                </a:rPr>
                <a:t>4 architectures</a:t>
              </a:r>
            </a:p>
          </p:txBody>
        </p:sp>
      </p:grpSp>
      <p:grpSp>
        <p:nvGrpSpPr>
          <p:cNvPr name="Group 25" id="25"/>
          <p:cNvGrpSpPr/>
          <p:nvPr/>
        </p:nvGrpSpPr>
        <p:grpSpPr>
          <a:xfrm rot="0">
            <a:off x="9226172" y="7606417"/>
            <a:ext cx="3414331" cy="600351"/>
            <a:chOff x="0" y="0"/>
            <a:chExt cx="4552442" cy="800468"/>
          </a:xfrm>
        </p:grpSpPr>
        <p:sp>
          <p:nvSpPr>
            <p:cNvPr name="Freeform 26" id="26"/>
            <p:cNvSpPr/>
            <p:nvPr/>
          </p:nvSpPr>
          <p:spPr>
            <a:xfrm flipH="false" flipV="false" rot="0">
              <a:off x="0" y="0"/>
              <a:ext cx="4552442" cy="800481"/>
            </a:xfrm>
            <a:custGeom>
              <a:avLst/>
              <a:gdLst/>
              <a:ahLst/>
              <a:cxnLst/>
              <a:rect r="r" b="b" t="t" l="l"/>
              <a:pathLst>
                <a:path h="800481" w="4552442">
                  <a:moveTo>
                    <a:pt x="0" y="320167"/>
                  </a:moveTo>
                  <a:cubicBezTo>
                    <a:pt x="0" y="143383"/>
                    <a:pt x="143383" y="0"/>
                    <a:pt x="320167" y="0"/>
                  </a:cubicBezTo>
                  <a:lnTo>
                    <a:pt x="4232275" y="0"/>
                  </a:lnTo>
                  <a:cubicBezTo>
                    <a:pt x="4409059" y="0"/>
                    <a:pt x="4552442" y="143383"/>
                    <a:pt x="4552442" y="320167"/>
                  </a:cubicBezTo>
                  <a:lnTo>
                    <a:pt x="4552442" y="480314"/>
                  </a:lnTo>
                  <a:cubicBezTo>
                    <a:pt x="4552442" y="657098"/>
                    <a:pt x="4409059" y="800481"/>
                    <a:pt x="4232275" y="800481"/>
                  </a:cubicBezTo>
                  <a:lnTo>
                    <a:pt x="320167" y="800481"/>
                  </a:lnTo>
                  <a:cubicBezTo>
                    <a:pt x="143383" y="800481"/>
                    <a:pt x="0" y="657098"/>
                    <a:pt x="0" y="480314"/>
                  </a:cubicBezTo>
                  <a:close/>
                </a:path>
              </a:pathLst>
            </a:custGeom>
            <a:solidFill>
              <a:srgbClr val="141820"/>
            </a:solidFill>
            <a:ln w="23831" cap="sq">
              <a:solidFill>
                <a:srgbClr val="D29922"/>
              </a:solidFill>
              <a:prstDash val="solid"/>
              <a:miter/>
            </a:ln>
          </p:spPr>
        </p:sp>
      </p:grpSp>
      <p:grpSp>
        <p:nvGrpSpPr>
          <p:cNvPr name="Group 27" id="27"/>
          <p:cNvGrpSpPr/>
          <p:nvPr/>
        </p:nvGrpSpPr>
        <p:grpSpPr>
          <a:xfrm rot="0">
            <a:off x="9238088" y="7686961"/>
            <a:ext cx="3390500" cy="480431"/>
            <a:chOff x="0" y="0"/>
            <a:chExt cx="4520667" cy="640575"/>
          </a:xfrm>
        </p:grpSpPr>
        <p:sp>
          <p:nvSpPr>
            <p:cNvPr name="Freeform 28" id="28"/>
            <p:cNvSpPr/>
            <p:nvPr/>
          </p:nvSpPr>
          <p:spPr>
            <a:xfrm flipH="false" flipV="false" rot="0">
              <a:off x="0" y="0"/>
              <a:ext cx="4520668" cy="640580"/>
            </a:xfrm>
            <a:custGeom>
              <a:avLst/>
              <a:gdLst/>
              <a:ahLst/>
              <a:cxnLst/>
              <a:rect r="r" b="b" t="t" l="l"/>
              <a:pathLst>
                <a:path h="640580" w="4520668">
                  <a:moveTo>
                    <a:pt x="0" y="0"/>
                  </a:moveTo>
                  <a:lnTo>
                    <a:pt x="4520668" y="0"/>
                  </a:lnTo>
                  <a:lnTo>
                    <a:pt x="4520668" y="640580"/>
                  </a:lnTo>
                  <a:lnTo>
                    <a:pt x="0" y="640580"/>
                  </a:lnTo>
                  <a:close/>
                </a:path>
              </a:pathLst>
            </a:custGeom>
            <a:blipFill>
              <a:blip r:embed="rId3">
                <a:alphaModFix amt="0"/>
              </a:blip>
              <a:stretch>
                <a:fillRect l="0" t="-87509" r="0" b="-87508"/>
              </a:stretch>
            </a:blipFill>
          </p:spPr>
        </p:sp>
        <p:sp>
          <p:nvSpPr>
            <p:cNvPr name="TextBox 29" id="29"/>
            <p:cNvSpPr txBox="true"/>
            <p:nvPr/>
          </p:nvSpPr>
          <p:spPr>
            <a:xfrm>
              <a:off x="0" y="-47625"/>
              <a:ext cx="4520667" cy="688200"/>
            </a:xfrm>
            <a:prstGeom prst="rect">
              <a:avLst/>
            </a:prstGeom>
          </p:spPr>
          <p:txBody>
            <a:bodyPr anchor="ctr" rtlCol="false" tIns="0" lIns="0" bIns="0" rIns="0"/>
            <a:lstStyle/>
            <a:p>
              <a:pPr algn="ctr">
                <a:lnSpc>
                  <a:spcPts val="2269"/>
                </a:lnSpc>
              </a:pPr>
              <a:r>
                <a:rPr lang="en-US" sz="1801" b="true">
                  <a:solidFill>
                    <a:srgbClr val="D29922"/>
                  </a:solidFill>
                  <a:latin typeface="Consolas Bold"/>
                  <a:ea typeface="Consolas Bold"/>
                  <a:cs typeface="Consolas Bold"/>
                  <a:sym typeface="Consolas Bold"/>
                </a:rPr>
                <a:t>make → ./llamini</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2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WHY THIS EXISTS</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The inference engine nobody looks at</a:t>
            </a:r>
          </a:p>
        </p:txBody>
      </p:sp>
      <p:sp>
        <p:nvSpPr>
          <p:cNvPr name="TextBox 8" id="8"/>
          <p:cNvSpPr txBox="true"/>
          <p:nvPr/>
        </p:nvSpPr>
        <p:spPr>
          <a:xfrm rot="0">
            <a:off x="846411" y="1811141"/>
            <a:ext cx="16563727" cy="888482"/>
          </a:xfrm>
          <a:prstGeom prst="rect">
            <a:avLst/>
          </a:prstGeom>
        </p:spPr>
        <p:txBody>
          <a:bodyPr anchor="t" rtlCol="false" tIns="0" lIns="0" bIns="0" rIns="0">
            <a:spAutoFit/>
          </a:bodyPr>
          <a:lstStyle/>
          <a:p>
            <a:pPr algn="l">
              <a:lnSpc>
                <a:spcPts val="3404"/>
              </a:lnSpc>
            </a:pPr>
            <a:r>
              <a:rPr lang="en-US" sz="2702">
                <a:solidFill>
                  <a:srgbClr val="ECF1F5"/>
                </a:solidFill>
                <a:latin typeface="Segoe UI"/>
                <a:ea typeface="Segoe UI"/>
                <a:cs typeface="Segoe UI"/>
                <a:sym typeface="Segoe UI"/>
              </a:rPr>
              <a:t>llama.cpp is load-bearing infrastructure. If it were a black box, so would every local LLM tool on a laptop.</a:t>
            </a:r>
          </a:p>
        </p:txBody>
      </p:sp>
      <p:grpSp>
        <p:nvGrpSpPr>
          <p:cNvPr name="Group 9" id="9"/>
          <p:cNvGrpSpPr/>
          <p:nvPr/>
        </p:nvGrpSpPr>
        <p:grpSpPr>
          <a:xfrm rot="0">
            <a:off x="745436" y="2941711"/>
            <a:ext cx="5441118" cy="3519383"/>
            <a:chOff x="0" y="0"/>
            <a:chExt cx="7254824" cy="4692510"/>
          </a:xfrm>
        </p:grpSpPr>
        <p:sp>
          <p:nvSpPr>
            <p:cNvPr name="Freeform 10" id="10"/>
            <p:cNvSpPr/>
            <p:nvPr/>
          </p:nvSpPr>
          <p:spPr>
            <a:xfrm flipH="false" flipV="false" rot="0">
              <a:off x="0" y="0"/>
              <a:ext cx="7254875" cy="4692523"/>
            </a:xfrm>
            <a:custGeom>
              <a:avLst/>
              <a:gdLst/>
              <a:ahLst/>
              <a:cxnLst/>
              <a:rect r="r" b="b" t="t" l="l"/>
              <a:pathLst>
                <a:path h="4692523" w="7254875">
                  <a:moveTo>
                    <a:pt x="0" y="281559"/>
                  </a:moveTo>
                  <a:cubicBezTo>
                    <a:pt x="0" y="126111"/>
                    <a:pt x="126111" y="0"/>
                    <a:pt x="281559" y="0"/>
                  </a:cubicBezTo>
                  <a:lnTo>
                    <a:pt x="6973316" y="0"/>
                  </a:lnTo>
                  <a:cubicBezTo>
                    <a:pt x="7128764" y="0"/>
                    <a:pt x="7254875" y="126111"/>
                    <a:pt x="7254875" y="281559"/>
                  </a:cubicBezTo>
                  <a:lnTo>
                    <a:pt x="7254875" y="4410964"/>
                  </a:lnTo>
                  <a:cubicBezTo>
                    <a:pt x="7254875" y="4566412"/>
                    <a:pt x="7128764" y="4692523"/>
                    <a:pt x="6973316" y="4692523"/>
                  </a:cubicBezTo>
                  <a:lnTo>
                    <a:pt x="281559" y="4692523"/>
                  </a:lnTo>
                  <a:cubicBezTo>
                    <a:pt x="126111" y="4692523"/>
                    <a:pt x="0" y="4566412"/>
                    <a:pt x="0" y="4410964"/>
                  </a:cubicBezTo>
                  <a:close/>
                </a:path>
              </a:pathLst>
            </a:custGeom>
            <a:solidFill>
              <a:srgbClr val="141820"/>
            </a:solidFill>
            <a:ln w="19065" cap="sq">
              <a:solidFill>
                <a:srgbClr val="2A323E"/>
              </a:solidFill>
              <a:prstDash val="solid"/>
              <a:miter/>
            </a:ln>
          </p:spPr>
        </p:sp>
      </p:grpSp>
      <p:sp>
        <p:nvSpPr>
          <p:cNvPr name="TextBox 11" id="11"/>
          <p:cNvSpPr txBox="true"/>
          <p:nvPr/>
        </p:nvSpPr>
        <p:spPr>
          <a:xfrm rot="0">
            <a:off x="1148401" y="3211268"/>
            <a:ext cx="4621473" cy="476679"/>
          </a:xfrm>
          <a:prstGeom prst="rect">
            <a:avLst/>
          </a:prstGeom>
        </p:spPr>
        <p:txBody>
          <a:bodyPr anchor="t" rtlCol="false" tIns="0" lIns="0" bIns="0" rIns="0">
            <a:spAutoFit/>
          </a:bodyPr>
          <a:lstStyle/>
          <a:p>
            <a:pPr algn="l">
              <a:lnSpc>
                <a:spcPts val="3026"/>
              </a:lnSpc>
            </a:pPr>
            <a:r>
              <a:rPr lang="en-US" sz="2401" b="true">
                <a:solidFill>
                  <a:srgbClr val="FFFFFF"/>
                </a:solidFill>
                <a:latin typeface="Segoe UI Bold"/>
                <a:ea typeface="Segoe UI Bold"/>
                <a:cs typeface="Segoe UI Bold"/>
                <a:sym typeface="Segoe UI Bold"/>
              </a:rPr>
              <a:t>Ollama</a:t>
            </a:r>
          </a:p>
        </p:txBody>
      </p:sp>
      <p:sp>
        <p:nvSpPr>
          <p:cNvPr name="TextBox 12" id="12"/>
          <p:cNvSpPr txBox="true"/>
          <p:nvPr/>
        </p:nvSpPr>
        <p:spPr>
          <a:xfrm rot="0">
            <a:off x="1148401" y="3772948"/>
            <a:ext cx="4621473" cy="436616"/>
          </a:xfrm>
          <a:prstGeom prst="rect">
            <a:avLst/>
          </a:prstGeom>
        </p:spPr>
        <p:txBody>
          <a:bodyPr anchor="t" rtlCol="false" tIns="0" lIns="0" bIns="0" rIns="0">
            <a:spAutoFit/>
          </a:bodyPr>
          <a:lstStyle/>
          <a:p>
            <a:pPr algn="l">
              <a:lnSpc>
                <a:spcPts val="2458"/>
              </a:lnSpc>
            </a:pPr>
            <a:r>
              <a:rPr lang="en-US" sz="1951" b="true">
                <a:solidFill>
                  <a:srgbClr val="3FB950"/>
                </a:solidFill>
                <a:latin typeface="Consolas Bold"/>
                <a:ea typeface="Consolas Bold"/>
                <a:cs typeface="Consolas Bold"/>
                <a:sym typeface="Consolas Bold"/>
              </a:rPr>
              <a:t>179.8k GitHub stars</a:t>
            </a:r>
          </a:p>
        </p:txBody>
      </p:sp>
      <p:sp>
        <p:nvSpPr>
          <p:cNvPr name="TextBox 13" id="13"/>
          <p:cNvSpPr txBox="true"/>
          <p:nvPr/>
        </p:nvSpPr>
        <p:spPr>
          <a:xfrm rot="0">
            <a:off x="1148401" y="4253379"/>
            <a:ext cx="4621473" cy="367989"/>
          </a:xfrm>
          <a:prstGeom prst="rect">
            <a:avLst/>
          </a:prstGeom>
        </p:spPr>
        <p:txBody>
          <a:bodyPr anchor="t" rtlCol="false" tIns="0" lIns="0" bIns="0" rIns="0">
            <a:spAutoFit/>
          </a:bodyPr>
          <a:lstStyle/>
          <a:p>
            <a:pPr algn="l">
              <a:lnSpc>
                <a:spcPts val="2458"/>
              </a:lnSpc>
            </a:pPr>
            <a:r>
              <a:rPr lang="en-US" sz="1951">
                <a:solidFill>
                  <a:srgbClr val="58A6FF"/>
                </a:solidFill>
                <a:latin typeface="Consolas"/>
                <a:ea typeface="Consolas"/>
                <a:cs typeface="Consolas"/>
                <a:sym typeface="Consolas"/>
              </a:rPr>
              <a:t>100M+ Docker pulls</a:t>
            </a:r>
          </a:p>
        </p:txBody>
      </p:sp>
      <p:sp>
        <p:nvSpPr>
          <p:cNvPr name="TextBox 14" id="14"/>
          <p:cNvSpPr txBox="true"/>
          <p:nvPr/>
        </p:nvSpPr>
        <p:spPr>
          <a:xfrm rot="0">
            <a:off x="1148401" y="4909185"/>
            <a:ext cx="4621473" cy="1153487"/>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depends on llama.cpp directly — pulled in and patched at build time</a:t>
            </a:r>
          </a:p>
        </p:txBody>
      </p:sp>
      <p:grpSp>
        <p:nvGrpSpPr>
          <p:cNvPr name="Group 15" id="15"/>
          <p:cNvGrpSpPr/>
          <p:nvPr/>
        </p:nvGrpSpPr>
        <p:grpSpPr>
          <a:xfrm rot="0">
            <a:off x="6442024" y="2941711"/>
            <a:ext cx="5441118" cy="3519383"/>
            <a:chOff x="0" y="0"/>
            <a:chExt cx="7254824" cy="4692510"/>
          </a:xfrm>
        </p:grpSpPr>
        <p:sp>
          <p:nvSpPr>
            <p:cNvPr name="Freeform 16" id="16"/>
            <p:cNvSpPr/>
            <p:nvPr/>
          </p:nvSpPr>
          <p:spPr>
            <a:xfrm flipH="false" flipV="false" rot="0">
              <a:off x="0" y="0"/>
              <a:ext cx="7254875" cy="4692523"/>
            </a:xfrm>
            <a:custGeom>
              <a:avLst/>
              <a:gdLst/>
              <a:ahLst/>
              <a:cxnLst/>
              <a:rect r="r" b="b" t="t" l="l"/>
              <a:pathLst>
                <a:path h="4692523" w="7254875">
                  <a:moveTo>
                    <a:pt x="0" y="281559"/>
                  </a:moveTo>
                  <a:cubicBezTo>
                    <a:pt x="0" y="126111"/>
                    <a:pt x="126111" y="0"/>
                    <a:pt x="281559" y="0"/>
                  </a:cubicBezTo>
                  <a:lnTo>
                    <a:pt x="6973316" y="0"/>
                  </a:lnTo>
                  <a:cubicBezTo>
                    <a:pt x="7128764" y="0"/>
                    <a:pt x="7254875" y="126111"/>
                    <a:pt x="7254875" y="281559"/>
                  </a:cubicBezTo>
                  <a:lnTo>
                    <a:pt x="7254875" y="4410964"/>
                  </a:lnTo>
                  <a:cubicBezTo>
                    <a:pt x="7254875" y="4566412"/>
                    <a:pt x="7128764" y="4692523"/>
                    <a:pt x="6973316" y="4692523"/>
                  </a:cubicBezTo>
                  <a:lnTo>
                    <a:pt x="281559" y="4692523"/>
                  </a:lnTo>
                  <a:cubicBezTo>
                    <a:pt x="126111" y="4692523"/>
                    <a:pt x="0" y="4566412"/>
                    <a:pt x="0" y="4410964"/>
                  </a:cubicBezTo>
                  <a:close/>
                </a:path>
              </a:pathLst>
            </a:custGeom>
            <a:solidFill>
              <a:srgbClr val="141820"/>
            </a:solidFill>
            <a:ln w="19065" cap="sq">
              <a:solidFill>
                <a:srgbClr val="2A323E"/>
              </a:solidFill>
              <a:prstDash val="solid"/>
              <a:miter/>
            </a:ln>
          </p:spPr>
        </p:sp>
      </p:grpSp>
      <p:sp>
        <p:nvSpPr>
          <p:cNvPr name="TextBox 17" id="17"/>
          <p:cNvSpPr txBox="true"/>
          <p:nvPr/>
        </p:nvSpPr>
        <p:spPr>
          <a:xfrm rot="0">
            <a:off x="6844989" y="3211268"/>
            <a:ext cx="4621473" cy="476679"/>
          </a:xfrm>
          <a:prstGeom prst="rect">
            <a:avLst/>
          </a:prstGeom>
        </p:spPr>
        <p:txBody>
          <a:bodyPr anchor="t" rtlCol="false" tIns="0" lIns="0" bIns="0" rIns="0">
            <a:spAutoFit/>
          </a:bodyPr>
          <a:lstStyle/>
          <a:p>
            <a:pPr algn="l">
              <a:lnSpc>
                <a:spcPts val="3026"/>
              </a:lnSpc>
            </a:pPr>
            <a:r>
              <a:rPr lang="en-US" sz="2401" b="true">
                <a:solidFill>
                  <a:srgbClr val="FFFFFF"/>
                </a:solidFill>
                <a:latin typeface="Segoe UI Bold"/>
                <a:ea typeface="Segoe UI Bold"/>
                <a:cs typeface="Segoe UI Bold"/>
                <a:sym typeface="Segoe UI Bold"/>
              </a:rPr>
              <a:t>GPT4All  ·  LM Studio</a:t>
            </a:r>
          </a:p>
        </p:txBody>
      </p:sp>
      <p:sp>
        <p:nvSpPr>
          <p:cNvPr name="TextBox 18" id="18"/>
          <p:cNvSpPr txBox="true"/>
          <p:nvPr/>
        </p:nvSpPr>
        <p:spPr>
          <a:xfrm rot="0">
            <a:off x="6844989" y="3772948"/>
            <a:ext cx="4621473" cy="436616"/>
          </a:xfrm>
          <a:prstGeom prst="rect">
            <a:avLst/>
          </a:prstGeom>
        </p:spPr>
        <p:txBody>
          <a:bodyPr anchor="t" rtlCol="false" tIns="0" lIns="0" bIns="0" rIns="0">
            <a:spAutoFit/>
          </a:bodyPr>
          <a:lstStyle/>
          <a:p>
            <a:pPr algn="l">
              <a:lnSpc>
                <a:spcPts val="2458"/>
              </a:lnSpc>
            </a:pPr>
            <a:r>
              <a:rPr lang="en-US" sz="1951" b="true">
                <a:solidFill>
                  <a:srgbClr val="3FB950"/>
                </a:solidFill>
                <a:latin typeface="Consolas Bold"/>
                <a:ea typeface="Consolas Bold"/>
                <a:cs typeface="Consolas Bold"/>
                <a:sym typeface="Consolas Bold"/>
              </a:rPr>
              <a:t>consumer apps</a:t>
            </a:r>
          </a:p>
        </p:txBody>
      </p:sp>
      <p:sp>
        <p:nvSpPr>
          <p:cNvPr name="TextBox 19" id="19"/>
          <p:cNvSpPr txBox="true"/>
          <p:nvPr/>
        </p:nvSpPr>
        <p:spPr>
          <a:xfrm rot="0">
            <a:off x="6844989" y="4253379"/>
            <a:ext cx="4621473" cy="367989"/>
          </a:xfrm>
          <a:prstGeom prst="rect">
            <a:avLst/>
          </a:prstGeom>
        </p:spPr>
        <p:txBody>
          <a:bodyPr anchor="t" rtlCol="false" tIns="0" lIns="0" bIns="0" rIns="0">
            <a:spAutoFit/>
          </a:bodyPr>
          <a:lstStyle/>
          <a:p>
            <a:pPr algn="l">
              <a:lnSpc>
                <a:spcPts val="2458"/>
              </a:lnSpc>
            </a:pPr>
            <a:r>
              <a:rPr lang="en-US" sz="1951">
                <a:solidFill>
                  <a:srgbClr val="58A6FF"/>
                </a:solidFill>
                <a:latin typeface="Consolas"/>
                <a:ea typeface="Consolas"/>
                <a:cs typeface="Consolas"/>
                <a:sym typeface="Consolas"/>
              </a:rPr>
              <a:t>ship it under the hood</a:t>
            </a:r>
          </a:p>
        </p:txBody>
      </p:sp>
      <p:sp>
        <p:nvSpPr>
          <p:cNvPr name="TextBox 20" id="20"/>
          <p:cNvSpPr txBox="true"/>
          <p:nvPr/>
        </p:nvSpPr>
        <p:spPr>
          <a:xfrm rot="0">
            <a:off x="6844989" y="4909185"/>
            <a:ext cx="4621473" cy="1153487"/>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LM Studio's own blog credits “our llama.cpp engine”</a:t>
            </a:r>
          </a:p>
        </p:txBody>
      </p:sp>
      <p:grpSp>
        <p:nvGrpSpPr>
          <p:cNvPr name="Group 21" id="21"/>
          <p:cNvGrpSpPr/>
          <p:nvPr/>
        </p:nvGrpSpPr>
        <p:grpSpPr>
          <a:xfrm rot="0">
            <a:off x="12138622" y="2941711"/>
            <a:ext cx="5441118" cy="3519383"/>
            <a:chOff x="0" y="0"/>
            <a:chExt cx="7254824" cy="4692510"/>
          </a:xfrm>
        </p:grpSpPr>
        <p:sp>
          <p:nvSpPr>
            <p:cNvPr name="Freeform 22" id="22"/>
            <p:cNvSpPr/>
            <p:nvPr/>
          </p:nvSpPr>
          <p:spPr>
            <a:xfrm flipH="false" flipV="false" rot="0">
              <a:off x="0" y="0"/>
              <a:ext cx="7254875" cy="4692523"/>
            </a:xfrm>
            <a:custGeom>
              <a:avLst/>
              <a:gdLst/>
              <a:ahLst/>
              <a:cxnLst/>
              <a:rect r="r" b="b" t="t" l="l"/>
              <a:pathLst>
                <a:path h="4692523" w="7254875">
                  <a:moveTo>
                    <a:pt x="0" y="281559"/>
                  </a:moveTo>
                  <a:cubicBezTo>
                    <a:pt x="0" y="126111"/>
                    <a:pt x="126111" y="0"/>
                    <a:pt x="281559" y="0"/>
                  </a:cubicBezTo>
                  <a:lnTo>
                    <a:pt x="6973316" y="0"/>
                  </a:lnTo>
                  <a:cubicBezTo>
                    <a:pt x="7128764" y="0"/>
                    <a:pt x="7254875" y="126111"/>
                    <a:pt x="7254875" y="281559"/>
                  </a:cubicBezTo>
                  <a:lnTo>
                    <a:pt x="7254875" y="4410964"/>
                  </a:lnTo>
                  <a:cubicBezTo>
                    <a:pt x="7254875" y="4566412"/>
                    <a:pt x="7128764" y="4692523"/>
                    <a:pt x="6973316" y="4692523"/>
                  </a:cubicBezTo>
                  <a:lnTo>
                    <a:pt x="281559" y="4692523"/>
                  </a:lnTo>
                  <a:cubicBezTo>
                    <a:pt x="126111" y="4692523"/>
                    <a:pt x="0" y="4566412"/>
                    <a:pt x="0" y="4410964"/>
                  </a:cubicBezTo>
                  <a:close/>
                </a:path>
              </a:pathLst>
            </a:custGeom>
            <a:solidFill>
              <a:srgbClr val="141820"/>
            </a:solidFill>
            <a:ln w="19065" cap="sq">
              <a:solidFill>
                <a:srgbClr val="2A323E"/>
              </a:solidFill>
              <a:prstDash val="solid"/>
              <a:miter/>
            </a:ln>
          </p:spPr>
        </p:sp>
      </p:grpSp>
      <p:sp>
        <p:nvSpPr>
          <p:cNvPr name="TextBox 23" id="23"/>
          <p:cNvSpPr txBox="true"/>
          <p:nvPr/>
        </p:nvSpPr>
        <p:spPr>
          <a:xfrm rot="0">
            <a:off x="12541577" y="3211268"/>
            <a:ext cx="4621473" cy="476679"/>
          </a:xfrm>
          <a:prstGeom prst="rect">
            <a:avLst/>
          </a:prstGeom>
        </p:spPr>
        <p:txBody>
          <a:bodyPr anchor="t" rtlCol="false" tIns="0" lIns="0" bIns="0" rIns="0">
            <a:spAutoFit/>
          </a:bodyPr>
          <a:lstStyle/>
          <a:p>
            <a:pPr algn="l">
              <a:lnSpc>
                <a:spcPts val="3026"/>
              </a:lnSpc>
            </a:pPr>
            <a:r>
              <a:rPr lang="en-US" sz="2401" b="true">
                <a:solidFill>
                  <a:srgbClr val="FFFFFF"/>
                </a:solidFill>
                <a:latin typeface="Segoe UI Bold"/>
                <a:ea typeface="Segoe UI Bold"/>
                <a:cs typeface="Segoe UI Bold"/>
                <a:sym typeface="Segoe UI Bold"/>
              </a:rPr>
              <a:t>llama-cpp-python</a:t>
            </a:r>
          </a:p>
        </p:txBody>
      </p:sp>
      <p:sp>
        <p:nvSpPr>
          <p:cNvPr name="TextBox 24" id="24"/>
          <p:cNvSpPr txBox="true"/>
          <p:nvPr/>
        </p:nvSpPr>
        <p:spPr>
          <a:xfrm rot="0">
            <a:off x="12541577" y="3772948"/>
            <a:ext cx="4621473" cy="436616"/>
          </a:xfrm>
          <a:prstGeom prst="rect">
            <a:avLst/>
          </a:prstGeom>
        </p:spPr>
        <p:txBody>
          <a:bodyPr anchor="t" rtlCol="false" tIns="0" lIns="0" bIns="0" rIns="0">
            <a:spAutoFit/>
          </a:bodyPr>
          <a:lstStyle/>
          <a:p>
            <a:pPr algn="l">
              <a:lnSpc>
                <a:spcPts val="2458"/>
              </a:lnSpc>
            </a:pPr>
            <a:r>
              <a:rPr lang="en-US" sz="1951" b="true">
                <a:solidFill>
                  <a:srgbClr val="3FB950"/>
                </a:solidFill>
                <a:latin typeface="Consolas Bold"/>
                <a:ea typeface="Consolas Bold"/>
                <a:cs typeface="Consolas Bold"/>
                <a:sym typeface="Consolas Bold"/>
              </a:rPr>
              <a:t>10.6k stars</a:t>
            </a:r>
          </a:p>
        </p:txBody>
      </p:sp>
      <p:sp>
        <p:nvSpPr>
          <p:cNvPr name="TextBox 25" id="25"/>
          <p:cNvSpPr txBox="true"/>
          <p:nvPr/>
        </p:nvSpPr>
        <p:spPr>
          <a:xfrm rot="0">
            <a:off x="12541577" y="4253379"/>
            <a:ext cx="4621473" cy="367989"/>
          </a:xfrm>
          <a:prstGeom prst="rect">
            <a:avLst/>
          </a:prstGeom>
        </p:spPr>
        <p:txBody>
          <a:bodyPr anchor="t" rtlCol="false" tIns="0" lIns="0" bIns="0" rIns="0">
            <a:spAutoFit/>
          </a:bodyPr>
          <a:lstStyle/>
          <a:p>
            <a:pPr algn="l">
              <a:lnSpc>
                <a:spcPts val="2458"/>
              </a:lnSpc>
            </a:pPr>
            <a:r>
              <a:rPr lang="en-US" sz="1951">
                <a:solidFill>
                  <a:srgbClr val="58A6FF"/>
                </a:solidFill>
                <a:latin typeface="Consolas"/>
                <a:ea typeface="Consolas"/>
                <a:cs typeface="Consolas"/>
                <a:sym typeface="Consolas"/>
              </a:rPr>
              <a:t>direct binding</a:t>
            </a:r>
          </a:p>
        </p:txBody>
      </p:sp>
      <p:sp>
        <p:nvSpPr>
          <p:cNvPr name="TextBox 26" id="26"/>
          <p:cNvSpPr txBox="true"/>
          <p:nvPr/>
        </p:nvSpPr>
        <p:spPr>
          <a:xfrm rot="0">
            <a:off x="12541577" y="4909185"/>
            <a:ext cx="4621473" cy="1153487"/>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the Python the rest of the stack actually calls</a:t>
            </a:r>
          </a:p>
        </p:txBody>
      </p:sp>
      <p:grpSp>
        <p:nvGrpSpPr>
          <p:cNvPr name="Group 27" id="27"/>
          <p:cNvGrpSpPr/>
          <p:nvPr/>
        </p:nvGrpSpPr>
        <p:grpSpPr>
          <a:xfrm rot="0">
            <a:off x="745436" y="6716563"/>
            <a:ext cx="16834304" cy="2695775"/>
            <a:chOff x="0" y="0"/>
            <a:chExt cx="22445739" cy="3594367"/>
          </a:xfrm>
        </p:grpSpPr>
        <p:sp>
          <p:nvSpPr>
            <p:cNvPr name="Freeform 28" id="28"/>
            <p:cNvSpPr/>
            <p:nvPr/>
          </p:nvSpPr>
          <p:spPr>
            <a:xfrm flipH="false" flipV="false" rot="0">
              <a:off x="0" y="0"/>
              <a:ext cx="22445726" cy="3594354"/>
            </a:xfrm>
            <a:custGeom>
              <a:avLst/>
              <a:gdLst/>
              <a:ahLst/>
              <a:cxnLst/>
              <a:rect r="r" b="b" t="t" l="l"/>
              <a:pathLst>
                <a:path h="3594354" w="22445726">
                  <a:moveTo>
                    <a:pt x="0" y="215646"/>
                  </a:moveTo>
                  <a:cubicBezTo>
                    <a:pt x="0" y="96520"/>
                    <a:pt x="96520" y="0"/>
                    <a:pt x="215646" y="0"/>
                  </a:cubicBezTo>
                  <a:lnTo>
                    <a:pt x="22230080" y="0"/>
                  </a:lnTo>
                  <a:cubicBezTo>
                    <a:pt x="22349206" y="0"/>
                    <a:pt x="22445726" y="96520"/>
                    <a:pt x="22445726" y="215646"/>
                  </a:cubicBezTo>
                  <a:lnTo>
                    <a:pt x="22445726" y="3378708"/>
                  </a:lnTo>
                  <a:cubicBezTo>
                    <a:pt x="22445726" y="3497834"/>
                    <a:pt x="22349206" y="3594354"/>
                    <a:pt x="22230080" y="3594354"/>
                  </a:cubicBezTo>
                  <a:lnTo>
                    <a:pt x="215646" y="3594354"/>
                  </a:lnTo>
                  <a:cubicBezTo>
                    <a:pt x="96520" y="3594354"/>
                    <a:pt x="0" y="3497834"/>
                    <a:pt x="0" y="3378708"/>
                  </a:cubicBezTo>
                  <a:close/>
                </a:path>
              </a:pathLst>
            </a:custGeom>
            <a:solidFill>
              <a:srgbClr val="1A202A"/>
            </a:solidFill>
            <a:ln w="19065" cap="sq">
              <a:solidFill>
                <a:srgbClr val="2A323E"/>
              </a:solidFill>
              <a:prstDash val="solid"/>
              <a:miter/>
            </a:ln>
          </p:spPr>
        </p:sp>
      </p:grpSp>
      <p:sp>
        <p:nvSpPr>
          <p:cNvPr name="TextBox 29" id="29"/>
          <p:cNvSpPr txBox="true"/>
          <p:nvPr/>
        </p:nvSpPr>
        <p:spPr>
          <a:xfrm rot="0">
            <a:off x="1189577" y="7009371"/>
            <a:ext cx="16014659" cy="2114359"/>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The thought experiment, grounded.</a:t>
            </a:r>
          </a:p>
          <a:p>
            <a:pPr algn="l">
              <a:lnSpc>
                <a:spcPts val="2648"/>
              </a:lnSpc>
            </a:pPr>
            <a:r>
              <a:rPr lang="en-US" sz="2101">
                <a:solidFill>
                  <a:srgbClr val="ECF1F5"/>
                </a:solidFill>
                <a:latin typeface="Segoe UI"/>
                <a:ea typeface="Segoe UI"/>
                <a:cs typeface="Segoe UI"/>
                <a:sym typeface="Segoe UI"/>
              </a:rPr>
              <a:t>CVE-2024-3094 (xz-utils) was planted by a contributor persona over two years. Caught by one engineer noticing odd SSH timing — not a scan. If that class of compromise landed in llama.cpp instead of sshd, it would ride into every tool above. This project does not replace that stack. It makes the core readable, auditable, and reproducible by one person in a weekend.</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3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WHAT SHIPPED</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The core, written out by hand</a:t>
            </a:r>
          </a:p>
        </p:txBody>
      </p:sp>
      <p:grpSp>
        <p:nvGrpSpPr>
          <p:cNvPr name="Group 8" id="8"/>
          <p:cNvGrpSpPr/>
          <p:nvPr/>
        </p:nvGrpSpPr>
        <p:grpSpPr>
          <a:xfrm rot="0">
            <a:off x="745436" y="1912210"/>
            <a:ext cx="10382745" cy="7431500"/>
            <a:chOff x="0" y="0"/>
            <a:chExt cx="13843660" cy="9908667"/>
          </a:xfrm>
        </p:grpSpPr>
        <p:sp>
          <p:nvSpPr>
            <p:cNvPr name="Freeform 9" id="9"/>
            <p:cNvSpPr/>
            <p:nvPr/>
          </p:nvSpPr>
          <p:spPr>
            <a:xfrm flipH="false" flipV="false" rot="0">
              <a:off x="0" y="0"/>
              <a:ext cx="13843636" cy="9908667"/>
            </a:xfrm>
            <a:custGeom>
              <a:avLst/>
              <a:gdLst/>
              <a:ahLst/>
              <a:cxnLst/>
              <a:rect r="r" b="b" t="t" l="l"/>
              <a:pathLst>
                <a:path h="9908667" w="13843636">
                  <a:moveTo>
                    <a:pt x="0" y="594487"/>
                  </a:moveTo>
                  <a:cubicBezTo>
                    <a:pt x="0" y="266192"/>
                    <a:pt x="266192" y="0"/>
                    <a:pt x="594487" y="0"/>
                  </a:cubicBezTo>
                  <a:lnTo>
                    <a:pt x="13249148" y="0"/>
                  </a:lnTo>
                  <a:cubicBezTo>
                    <a:pt x="13577443" y="0"/>
                    <a:pt x="13843636" y="266192"/>
                    <a:pt x="13843636" y="594487"/>
                  </a:cubicBezTo>
                  <a:lnTo>
                    <a:pt x="13843636" y="9314180"/>
                  </a:lnTo>
                  <a:cubicBezTo>
                    <a:pt x="13843636" y="9642475"/>
                    <a:pt x="13577443" y="9908667"/>
                    <a:pt x="13249148" y="9908667"/>
                  </a:cubicBezTo>
                  <a:lnTo>
                    <a:pt x="594487" y="9908667"/>
                  </a:lnTo>
                  <a:cubicBezTo>
                    <a:pt x="266192" y="9908667"/>
                    <a:pt x="0" y="9642475"/>
                    <a:pt x="0" y="9314180"/>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189577" y="2195493"/>
            <a:ext cx="9494463" cy="408041"/>
          </a:xfrm>
          <a:prstGeom prst="rect">
            <a:avLst/>
          </a:prstGeom>
        </p:spPr>
        <p:txBody>
          <a:bodyPr anchor="t" rtlCol="false" tIns="0" lIns="0" bIns="0" rIns="0">
            <a:spAutoFit/>
          </a:bodyPr>
          <a:lstStyle/>
          <a:p>
            <a:pPr algn="l">
              <a:lnSpc>
                <a:spcPts val="3026"/>
              </a:lnSpc>
            </a:pPr>
            <a:r>
              <a:rPr lang="en-US" sz="2401" b="true">
                <a:solidFill>
                  <a:srgbClr val="3FB950"/>
                </a:solidFill>
                <a:latin typeface="Segoe UI Bold"/>
                <a:ea typeface="Segoe UI Bold"/>
                <a:cs typeface="Segoe UI Bold"/>
                <a:sym typeface="Segoe UI Bold"/>
              </a:rPr>
              <a:t>GGUF parser</a:t>
            </a:r>
          </a:p>
        </p:txBody>
      </p:sp>
      <p:sp>
        <p:nvSpPr>
          <p:cNvPr name="TextBox 11" id="11"/>
          <p:cNvSpPr txBox="true"/>
          <p:nvPr/>
        </p:nvSpPr>
        <p:spPr>
          <a:xfrm rot="0">
            <a:off x="1189577" y="2644273"/>
            <a:ext cx="9494463" cy="673056"/>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header, all 13 metadata types, tensor-info table, bounds-checked mmap</a:t>
            </a:r>
          </a:p>
        </p:txBody>
      </p:sp>
      <p:sp>
        <p:nvSpPr>
          <p:cNvPr name="TextBox 12" id="12"/>
          <p:cNvSpPr txBox="true"/>
          <p:nvPr/>
        </p:nvSpPr>
        <p:spPr>
          <a:xfrm rot="0">
            <a:off x="1189577" y="3595621"/>
            <a:ext cx="9494463" cy="408041"/>
          </a:xfrm>
          <a:prstGeom prst="rect">
            <a:avLst/>
          </a:prstGeom>
        </p:spPr>
        <p:txBody>
          <a:bodyPr anchor="t" rtlCol="false" tIns="0" lIns="0" bIns="0" rIns="0">
            <a:spAutoFit/>
          </a:bodyPr>
          <a:lstStyle/>
          <a:p>
            <a:pPr algn="l">
              <a:lnSpc>
                <a:spcPts val="3026"/>
              </a:lnSpc>
            </a:pPr>
            <a:r>
              <a:rPr lang="en-US" sz="2401" b="true">
                <a:solidFill>
                  <a:srgbClr val="3FB950"/>
                </a:solidFill>
                <a:latin typeface="Segoe UI Bold"/>
                <a:ea typeface="Segoe UI Bold"/>
                <a:cs typeface="Segoe UI Bold"/>
                <a:sym typeface="Segoe UI Bold"/>
              </a:rPr>
              <a:t>9 quant formats</a:t>
            </a:r>
          </a:p>
        </p:txBody>
      </p:sp>
      <p:sp>
        <p:nvSpPr>
          <p:cNvPr name="TextBox 13" id="13"/>
          <p:cNvSpPr txBox="true"/>
          <p:nvPr/>
        </p:nvSpPr>
        <p:spPr>
          <a:xfrm rot="0">
            <a:off x="1189577" y="4044401"/>
            <a:ext cx="9494463" cy="673056"/>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F32  F16  Q4_0  Q4_1  Q5_0  Q8_0  Q4_K  Q5_K  Q6_K</a:t>
            </a:r>
          </a:p>
        </p:txBody>
      </p:sp>
      <p:sp>
        <p:nvSpPr>
          <p:cNvPr name="TextBox 14" id="14"/>
          <p:cNvSpPr txBox="true"/>
          <p:nvPr/>
        </p:nvSpPr>
        <p:spPr>
          <a:xfrm rot="0">
            <a:off x="1189577" y="4995748"/>
            <a:ext cx="9494463" cy="408041"/>
          </a:xfrm>
          <a:prstGeom prst="rect">
            <a:avLst/>
          </a:prstGeom>
        </p:spPr>
        <p:txBody>
          <a:bodyPr anchor="t" rtlCol="false" tIns="0" lIns="0" bIns="0" rIns="0">
            <a:spAutoFit/>
          </a:bodyPr>
          <a:lstStyle/>
          <a:p>
            <a:pPr algn="l">
              <a:lnSpc>
                <a:spcPts val="3026"/>
              </a:lnSpc>
            </a:pPr>
            <a:r>
              <a:rPr lang="en-US" sz="2401" b="true">
                <a:solidFill>
                  <a:srgbClr val="3FB950"/>
                </a:solidFill>
                <a:latin typeface="Segoe UI Bold"/>
                <a:ea typeface="Segoe UI Bold"/>
                <a:cs typeface="Segoe UI Bold"/>
                <a:sym typeface="Segoe UI Bold"/>
              </a:rPr>
              <a:t>Transformer pass</a:t>
            </a:r>
          </a:p>
        </p:txBody>
      </p:sp>
      <p:sp>
        <p:nvSpPr>
          <p:cNvPr name="TextBox 15" id="15"/>
          <p:cNvSpPr txBox="true"/>
          <p:nvPr/>
        </p:nvSpPr>
        <p:spPr>
          <a:xfrm rot="0">
            <a:off x="1189577" y="5444528"/>
            <a:ext cx="9494463" cy="673056"/>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GQA/MQA attention, RoPE NORM+NEOX, SwiGLU/GeGLU, LayerNorm</a:t>
            </a:r>
          </a:p>
        </p:txBody>
      </p:sp>
      <p:sp>
        <p:nvSpPr>
          <p:cNvPr name="TextBox 16" id="16"/>
          <p:cNvSpPr txBox="true"/>
          <p:nvPr/>
        </p:nvSpPr>
        <p:spPr>
          <a:xfrm rot="0">
            <a:off x="1189577" y="6395866"/>
            <a:ext cx="9494463" cy="408041"/>
          </a:xfrm>
          <a:prstGeom prst="rect">
            <a:avLst/>
          </a:prstGeom>
        </p:spPr>
        <p:txBody>
          <a:bodyPr anchor="t" rtlCol="false" tIns="0" lIns="0" bIns="0" rIns="0">
            <a:spAutoFit/>
          </a:bodyPr>
          <a:lstStyle/>
          <a:p>
            <a:pPr algn="l">
              <a:lnSpc>
                <a:spcPts val="3026"/>
              </a:lnSpc>
            </a:pPr>
            <a:r>
              <a:rPr lang="en-US" sz="2401" b="true">
                <a:solidFill>
                  <a:srgbClr val="3FB950"/>
                </a:solidFill>
                <a:latin typeface="Segoe UI Bold"/>
                <a:ea typeface="Segoe UI Bold"/>
                <a:cs typeface="Segoe UI Bold"/>
                <a:sym typeface="Segoe UI Bold"/>
              </a:rPr>
              <a:t>Two tokenizers</a:t>
            </a:r>
          </a:p>
        </p:txBody>
      </p:sp>
      <p:sp>
        <p:nvSpPr>
          <p:cNvPr name="TextBox 17" id="17"/>
          <p:cNvSpPr txBox="true"/>
          <p:nvPr/>
        </p:nvSpPr>
        <p:spPr>
          <a:xfrm rot="0">
            <a:off x="1189577" y="6844646"/>
            <a:ext cx="9494463" cy="673056"/>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SentencePiece-BPE and byte-level BPE, from the file's own vocab</a:t>
            </a:r>
          </a:p>
        </p:txBody>
      </p:sp>
      <p:sp>
        <p:nvSpPr>
          <p:cNvPr name="TextBox 18" id="18"/>
          <p:cNvSpPr txBox="true"/>
          <p:nvPr/>
        </p:nvSpPr>
        <p:spPr>
          <a:xfrm rot="0">
            <a:off x="1189577" y="7795993"/>
            <a:ext cx="9494463" cy="408041"/>
          </a:xfrm>
          <a:prstGeom prst="rect">
            <a:avLst/>
          </a:prstGeom>
        </p:spPr>
        <p:txBody>
          <a:bodyPr anchor="t" rtlCol="false" tIns="0" lIns="0" bIns="0" rIns="0">
            <a:spAutoFit/>
          </a:bodyPr>
          <a:lstStyle/>
          <a:p>
            <a:pPr algn="l">
              <a:lnSpc>
                <a:spcPts val="3026"/>
              </a:lnSpc>
            </a:pPr>
            <a:r>
              <a:rPr lang="en-US" sz="2401" b="true">
                <a:solidFill>
                  <a:srgbClr val="3FB950"/>
                </a:solidFill>
                <a:latin typeface="Segoe UI Bold"/>
                <a:ea typeface="Segoe UI Bold"/>
                <a:cs typeface="Segoe UI Bold"/>
                <a:sym typeface="Segoe UI Bold"/>
              </a:rPr>
              <a:t>Four families</a:t>
            </a:r>
          </a:p>
        </p:txBody>
      </p:sp>
      <p:sp>
        <p:nvSpPr>
          <p:cNvPr name="TextBox 19" id="19"/>
          <p:cNvSpPr txBox="true"/>
          <p:nvPr/>
        </p:nvSpPr>
        <p:spPr>
          <a:xfrm rot="0">
            <a:off x="1189577" y="8244773"/>
            <a:ext cx="9494463" cy="673056"/>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LLaMA, Qwen2, GPT-2, Gemma — auto-detected from general.architecture</a:t>
            </a:r>
          </a:p>
        </p:txBody>
      </p:sp>
      <p:grpSp>
        <p:nvGrpSpPr>
          <p:cNvPr name="Group 20" id="20"/>
          <p:cNvGrpSpPr/>
          <p:nvPr/>
        </p:nvGrpSpPr>
        <p:grpSpPr>
          <a:xfrm rot="0">
            <a:off x="11383651" y="1912210"/>
            <a:ext cx="6196089" cy="7431500"/>
            <a:chOff x="0" y="0"/>
            <a:chExt cx="8261452" cy="9908667"/>
          </a:xfrm>
        </p:grpSpPr>
        <p:sp>
          <p:nvSpPr>
            <p:cNvPr name="Freeform 21" id="21"/>
            <p:cNvSpPr/>
            <p:nvPr/>
          </p:nvSpPr>
          <p:spPr>
            <a:xfrm flipH="false" flipV="false" rot="0">
              <a:off x="0" y="0"/>
              <a:ext cx="8261477" cy="9908667"/>
            </a:xfrm>
            <a:custGeom>
              <a:avLst/>
              <a:gdLst/>
              <a:ahLst/>
              <a:cxnLst/>
              <a:rect r="r" b="b" t="t" l="l"/>
              <a:pathLst>
                <a:path h="9908667" w="8261477">
                  <a:moveTo>
                    <a:pt x="0" y="495681"/>
                  </a:moveTo>
                  <a:cubicBezTo>
                    <a:pt x="0" y="221869"/>
                    <a:pt x="221869" y="0"/>
                    <a:pt x="495681" y="0"/>
                  </a:cubicBezTo>
                  <a:lnTo>
                    <a:pt x="7765796" y="0"/>
                  </a:lnTo>
                  <a:cubicBezTo>
                    <a:pt x="8039608" y="0"/>
                    <a:pt x="8261477" y="221869"/>
                    <a:pt x="8261477" y="495681"/>
                  </a:cubicBezTo>
                  <a:lnTo>
                    <a:pt x="8261477" y="9412986"/>
                  </a:lnTo>
                  <a:cubicBezTo>
                    <a:pt x="8261477" y="9686798"/>
                    <a:pt x="8039608" y="9908667"/>
                    <a:pt x="7765796" y="9908667"/>
                  </a:cubicBezTo>
                  <a:lnTo>
                    <a:pt x="495681" y="9908667"/>
                  </a:lnTo>
                  <a:cubicBezTo>
                    <a:pt x="221869" y="9908667"/>
                    <a:pt x="0" y="9686671"/>
                    <a:pt x="0" y="9412986"/>
                  </a:cubicBezTo>
                  <a:close/>
                </a:path>
              </a:pathLst>
            </a:custGeom>
            <a:solidFill>
              <a:srgbClr val="1A202A"/>
            </a:solidFill>
            <a:ln w="19065" cap="sq">
              <a:solidFill>
                <a:srgbClr val="2A323E"/>
              </a:solidFill>
              <a:prstDash val="solid"/>
              <a:miter/>
            </a:ln>
          </p:spPr>
        </p:sp>
      </p:grpSp>
      <p:sp>
        <p:nvSpPr>
          <p:cNvPr name="TextBox 22" id="22"/>
          <p:cNvSpPr txBox="true"/>
          <p:nvPr/>
        </p:nvSpPr>
        <p:spPr>
          <a:xfrm rot="0">
            <a:off x="11827793" y="2232469"/>
            <a:ext cx="5445071" cy="467154"/>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What you do not install</a:t>
            </a:r>
          </a:p>
        </p:txBody>
      </p:sp>
      <p:sp>
        <p:nvSpPr>
          <p:cNvPr name="TextBox 23" id="23"/>
          <p:cNvSpPr txBox="true"/>
          <p:nvPr/>
        </p:nvSpPr>
        <p:spPr>
          <a:xfrm rot="0">
            <a:off x="11827793" y="2987440"/>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ggml / llama.cpp as a library</a:t>
            </a:r>
          </a:p>
        </p:txBody>
      </p:sp>
      <p:sp>
        <p:nvSpPr>
          <p:cNvPr name="TextBox 24" id="24"/>
          <p:cNvSpPr txBox="true"/>
          <p:nvPr/>
        </p:nvSpPr>
        <p:spPr>
          <a:xfrm rot="0">
            <a:off x="11827793" y="3742411"/>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sentencepiece / tiktoken</a:t>
            </a:r>
          </a:p>
        </p:txBody>
      </p:sp>
      <p:sp>
        <p:nvSpPr>
          <p:cNvPr name="TextBox 25" id="25"/>
          <p:cNvSpPr txBox="true"/>
          <p:nvPr/>
        </p:nvSpPr>
        <p:spPr>
          <a:xfrm rot="0">
            <a:off x="11827793" y="4497381"/>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numpy / a BLAS</a:t>
            </a:r>
          </a:p>
        </p:txBody>
      </p:sp>
      <p:sp>
        <p:nvSpPr>
          <p:cNvPr name="TextBox 26" id="26"/>
          <p:cNvSpPr txBox="true"/>
          <p:nvPr/>
        </p:nvSpPr>
        <p:spPr>
          <a:xfrm rot="0">
            <a:off x="11827793" y="5252352"/>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llama-cpp-python</a:t>
            </a:r>
          </a:p>
        </p:txBody>
      </p:sp>
      <p:sp>
        <p:nvSpPr>
          <p:cNvPr name="TextBox 27" id="27"/>
          <p:cNvSpPr txBox="true"/>
          <p:nvPr/>
        </p:nvSpPr>
        <p:spPr>
          <a:xfrm rot="0">
            <a:off x="11827793" y="6007322"/>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CMake, vcpkg, Conan</a:t>
            </a:r>
          </a:p>
        </p:txBody>
      </p:sp>
      <p:sp>
        <p:nvSpPr>
          <p:cNvPr name="TextBox 28" id="28"/>
          <p:cNvSpPr txBox="true"/>
          <p:nvPr/>
        </p:nvSpPr>
        <p:spPr>
          <a:xfrm rot="0">
            <a:off x="11827793" y="6762293"/>
            <a:ext cx="5376443" cy="535791"/>
          </a:xfrm>
          <a:prstGeom prst="rect">
            <a:avLst/>
          </a:prstGeom>
        </p:spPr>
        <p:txBody>
          <a:bodyPr anchor="t" rtlCol="false" tIns="0" lIns="0" bIns="0" rIns="0">
            <a:spAutoFit/>
          </a:bodyPr>
          <a:lstStyle/>
          <a:p>
            <a:pPr algn="l">
              <a:lnSpc>
                <a:spcPts val="2648"/>
              </a:lnSpc>
            </a:pPr>
            <a:r>
              <a:rPr lang="en-US" sz="2101">
                <a:solidFill>
                  <a:srgbClr val="F85149"/>
                </a:solidFill>
                <a:latin typeface="Segoe UI"/>
                <a:ea typeface="Segoe UI"/>
                <a:cs typeface="Segoe UI"/>
                <a:sym typeface="Segoe UI"/>
              </a:rPr>
              <a:t>—  </a:t>
            </a:r>
            <a:r>
              <a:rPr lang="en-US" sz="2101">
                <a:solidFill>
                  <a:srgbClr val="ECF1F5"/>
                </a:solidFill>
                <a:latin typeface="Segoe UI"/>
                <a:ea typeface="Segoe UI"/>
                <a:cs typeface="Segoe UI"/>
                <a:sym typeface="Segoe UI"/>
              </a:rPr>
              <a:t>any Python runtime</a:t>
            </a:r>
          </a:p>
        </p:txBody>
      </p:sp>
      <p:sp>
        <p:nvSpPr>
          <p:cNvPr name="TextBox 29" id="29"/>
          <p:cNvSpPr txBox="true"/>
          <p:nvPr/>
        </p:nvSpPr>
        <p:spPr>
          <a:xfrm rot="0">
            <a:off x="11827793" y="8028232"/>
            <a:ext cx="5376443" cy="917057"/>
          </a:xfrm>
          <a:prstGeom prst="rect">
            <a:avLst/>
          </a:prstGeom>
        </p:spPr>
        <p:txBody>
          <a:bodyPr anchor="t" rtlCol="false" tIns="0" lIns="0" bIns="0" rIns="0">
            <a:spAutoFit/>
          </a:bodyPr>
          <a:lstStyle/>
          <a:p>
            <a:pPr algn="l">
              <a:lnSpc>
                <a:spcPts val="2458"/>
              </a:lnSpc>
            </a:pPr>
            <a:r>
              <a:rPr lang="en-US" sz="1951">
                <a:solidFill>
                  <a:srgbClr val="3FB950"/>
                </a:solidFill>
                <a:latin typeface="Consolas"/>
                <a:ea typeface="Consolas"/>
                <a:cs typeface="Consolas"/>
                <a:sym typeface="Consolas"/>
              </a:rPr>
              <a:t>One command builds it.</a:t>
            </a:r>
          </a:p>
          <a:p>
            <a:pPr algn="l">
              <a:lnSpc>
                <a:spcPts val="2458"/>
              </a:lnSpc>
            </a:pPr>
            <a:r>
              <a:rPr lang="en-US" sz="1951">
                <a:solidFill>
                  <a:srgbClr val="3FB950"/>
                </a:solidFill>
                <a:latin typeface="Consolas"/>
                <a:ea typeface="Consolas"/>
                <a:cs typeface="Consolas"/>
                <a:sym typeface="Consolas"/>
              </a:rPr>
              <a:t>make  →  ./llamini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C10"/>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0" y="0"/>
            <a:ext cx="18288000"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5.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5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AFTER THE TAPE</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Six things that tape just proved</a:t>
            </a:r>
          </a:p>
        </p:txBody>
      </p:sp>
      <p:grpSp>
        <p:nvGrpSpPr>
          <p:cNvPr name="Group 8" id="8"/>
          <p:cNvGrpSpPr/>
          <p:nvPr/>
        </p:nvGrpSpPr>
        <p:grpSpPr>
          <a:xfrm rot="0">
            <a:off x="745436" y="1980838"/>
            <a:ext cx="5441118" cy="3313481"/>
            <a:chOff x="0" y="0"/>
            <a:chExt cx="7254824" cy="4417974"/>
          </a:xfrm>
        </p:grpSpPr>
        <p:sp>
          <p:nvSpPr>
            <p:cNvPr name="Freeform 9" id="9"/>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148401" y="2235556"/>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01</a:t>
            </a:r>
          </a:p>
        </p:txBody>
      </p:sp>
      <p:sp>
        <p:nvSpPr>
          <p:cNvPr name="TextBox 11" id="11"/>
          <p:cNvSpPr txBox="true"/>
          <p:nvPr/>
        </p:nvSpPr>
        <p:spPr>
          <a:xfrm rot="0">
            <a:off x="1148401" y="273083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One command</a:t>
            </a:r>
          </a:p>
        </p:txBody>
      </p:sp>
      <p:sp>
        <p:nvSpPr>
          <p:cNvPr name="TextBox 12" id="12"/>
          <p:cNvSpPr txBox="true"/>
          <p:nvPr/>
        </p:nvSpPr>
        <p:spPr>
          <a:xfrm rot="0">
            <a:off x="1148401" y="346787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make. No CMake, no vcpkg, no package manager — gcc and a Makefile.</a:t>
            </a:r>
          </a:p>
        </p:txBody>
      </p:sp>
      <p:grpSp>
        <p:nvGrpSpPr>
          <p:cNvPr name="Group 13" id="13"/>
          <p:cNvGrpSpPr/>
          <p:nvPr/>
        </p:nvGrpSpPr>
        <p:grpSpPr>
          <a:xfrm rot="0">
            <a:off x="6442024" y="1980838"/>
            <a:ext cx="5441118" cy="3313481"/>
            <a:chOff x="0" y="0"/>
            <a:chExt cx="7254824" cy="4417974"/>
          </a:xfrm>
        </p:grpSpPr>
        <p:sp>
          <p:nvSpPr>
            <p:cNvPr name="Freeform 14" id="14"/>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15" id="15"/>
          <p:cNvSpPr txBox="true"/>
          <p:nvPr/>
        </p:nvSpPr>
        <p:spPr>
          <a:xfrm rot="0">
            <a:off x="6844989" y="2235556"/>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02</a:t>
            </a:r>
          </a:p>
        </p:txBody>
      </p:sp>
      <p:sp>
        <p:nvSpPr>
          <p:cNvPr name="TextBox 16" id="16"/>
          <p:cNvSpPr txBox="true"/>
          <p:nvPr/>
        </p:nvSpPr>
        <p:spPr>
          <a:xfrm rot="0">
            <a:off x="6844989" y="273083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Zero downloads</a:t>
            </a:r>
          </a:p>
        </p:txBody>
      </p:sp>
      <p:sp>
        <p:nvSpPr>
          <p:cNvPr name="TextBox 17" id="17"/>
          <p:cNvSpPr txBox="true"/>
          <p:nvPr/>
        </p:nvSpPr>
        <p:spPr>
          <a:xfrm rot="0">
            <a:off x="6844989" y="346787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./llamini --test builds a synthetic model in memory. The binary works before any .gguf exists.</a:t>
            </a:r>
          </a:p>
        </p:txBody>
      </p:sp>
      <p:grpSp>
        <p:nvGrpSpPr>
          <p:cNvPr name="Group 18" id="18"/>
          <p:cNvGrpSpPr/>
          <p:nvPr/>
        </p:nvGrpSpPr>
        <p:grpSpPr>
          <a:xfrm rot="0">
            <a:off x="12138622" y="1980838"/>
            <a:ext cx="5441118" cy="3313481"/>
            <a:chOff x="0" y="0"/>
            <a:chExt cx="7254824" cy="4417974"/>
          </a:xfrm>
        </p:grpSpPr>
        <p:sp>
          <p:nvSpPr>
            <p:cNvPr name="Freeform 19" id="19"/>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20" id="20"/>
          <p:cNvSpPr txBox="true"/>
          <p:nvPr/>
        </p:nvSpPr>
        <p:spPr>
          <a:xfrm rot="0">
            <a:off x="12541577" y="2235556"/>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03</a:t>
            </a:r>
          </a:p>
        </p:txBody>
      </p:sp>
      <p:sp>
        <p:nvSpPr>
          <p:cNvPr name="TextBox 21" id="21"/>
          <p:cNvSpPr txBox="true"/>
          <p:nvPr/>
        </p:nvSpPr>
        <p:spPr>
          <a:xfrm rot="0">
            <a:off x="12541577" y="273083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Honest setup</a:t>
            </a:r>
          </a:p>
        </p:txBody>
      </p:sp>
      <p:sp>
        <p:nvSpPr>
          <p:cNvPr name="TextBox 22" id="22"/>
          <p:cNvSpPr txBox="true"/>
          <p:nvPr/>
        </p:nvSpPr>
        <p:spPr>
          <a:xfrm rot="0">
            <a:off x="12541577" y="346787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--setup prints the curl command. HuggingFace is HTTPS-only; TLS or shelling out would break the rule.</a:t>
            </a:r>
          </a:p>
        </p:txBody>
      </p:sp>
      <p:grpSp>
        <p:nvGrpSpPr>
          <p:cNvPr name="Group 23" id="23"/>
          <p:cNvGrpSpPr/>
          <p:nvPr/>
        </p:nvGrpSpPr>
        <p:grpSpPr>
          <a:xfrm rot="0">
            <a:off x="745436" y="5549789"/>
            <a:ext cx="5441118" cy="3313481"/>
            <a:chOff x="0" y="0"/>
            <a:chExt cx="7254824" cy="4417974"/>
          </a:xfrm>
        </p:grpSpPr>
        <p:sp>
          <p:nvSpPr>
            <p:cNvPr name="Freeform 24" id="24"/>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25" id="25"/>
          <p:cNvSpPr txBox="true"/>
          <p:nvPr/>
        </p:nvSpPr>
        <p:spPr>
          <a:xfrm rot="0">
            <a:off x="1148401" y="5804497"/>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04</a:t>
            </a:r>
          </a:p>
        </p:txBody>
      </p:sp>
      <p:sp>
        <p:nvSpPr>
          <p:cNvPr name="TextBox 26" id="26"/>
          <p:cNvSpPr txBox="true"/>
          <p:nvPr/>
        </p:nvSpPr>
        <p:spPr>
          <a:xfrm rot="0">
            <a:off x="1148401" y="629978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Real inference</a:t>
            </a:r>
          </a:p>
        </p:txBody>
      </p:sp>
      <p:sp>
        <p:nvSpPr>
          <p:cNvPr name="TextBox 27" id="27"/>
          <p:cNvSpPr txBox="true"/>
          <p:nvPr/>
        </p:nvSpPr>
        <p:spPr>
          <a:xfrm rot="0">
            <a:off x="1148401" y="703682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GPT-2, real GGUF weights, byte-level BPE, a real transformer forward pass — live, at real speed.</a:t>
            </a:r>
          </a:p>
        </p:txBody>
      </p:sp>
      <p:grpSp>
        <p:nvGrpSpPr>
          <p:cNvPr name="Group 28" id="28"/>
          <p:cNvGrpSpPr/>
          <p:nvPr/>
        </p:nvGrpSpPr>
        <p:grpSpPr>
          <a:xfrm rot="0">
            <a:off x="6442024" y="5549789"/>
            <a:ext cx="5441118" cy="3313481"/>
            <a:chOff x="0" y="0"/>
            <a:chExt cx="7254824" cy="4417974"/>
          </a:xfrm>
        </p:grpSpPr>
        <p:sp>
          <p:nvSpPr>
            <p:cNvPr name="Freeform 29" id="29"/>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30" id="30"/>
          <p:cNvSpPr txBox="true"/>
          <p:nvPr/>
        </p:nvSpPr>
        <p:spPr>
          <a:xfrm rot="0">
            <a:off x="6844989" y="5804497"/>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05</a:t>
            </a:r>
          </a:p>
        </p:txBody>
      </p:sp>
      <p:sp>
        <p:nvSpPr>
          <p:cNvPr name="TextBox 31" id="31"/>
          <p:cNvSpPr txBox="true"/>
          <p:nvPr/>
        </p:nvSpPr>
        <p:spPr>
          <a:xfrm rot="0">
            <a:off x="6844989" y="629978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A checkable number</a:t>
            </a:r>
          </a:p>
        </p:txBody>
      </p:sp>
      <p:sp>
        <p:nvSpPr>
          <p:cNvPr name="TextBox 32" id="32"/>
          <p:cNvSpPr txBox="true"/>
          <p:nvPr/>
        </p:nvSpPr>
        <p:spPr>
          <a:xfrm rot="0">
            <a:off x="6844989" y="703682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Teacher-forced perplexity 20.58 on GPT-2. Three orders of magnitude below a broken model.</a:t>
            </a:r>
          </a:p>
        </p:txBody>
      </p:sp>
      <p:grpSp>
        <p:nvGrpSpPr>
          <p:cNvPr name="Group 33" id="33"/>
          <p:cNvGrpSpPr/>
          <p:nvPr/>
        </p:nvGrpSpPr>
        <p:grpSpPr>
          <a:xfrm rot="0">
            <a:off x="12138622" y="5549789"/>
            <a:ext cx="5441118" cy="3313481"/>
            <a:chOff x="0" y="0"/>
            <a:chExt cx="7254824" cy="4417974"/>
          </a:xfrm>
        </p:grpSpPr>
        <p:sp>
          <p:nvSpPr>
            <p:cNvPr name="Freeform 34" id="34"/>
            <p:cNvSpPr/>
            <p:nvPr/>
          </p:nvSpPr>
          <p:spPr>
            <a:xfrm flipH="false" flipV="false" rot="0">
              <a:off x="0" y="0"/>
              <a:ext cx="7254748" cy="4417949"/>
            </a:xfrm>
            <a:custGeom>
              <a:avLst/>
              <a:gdLst/>
              <a:ahLst/>
              <a:cxnLst/>
              <a:rect r="r" b="b" t="t" l="l"/>
              <a:pathLst>
                <a:path h="4417949" w="7254748">
                  <a:moveTo>
                    <a:pt x="0" y="265049"/>
                  </a:moveTo>
                  <a:cubicBezTo>
                    <a:pt x="0" y="118618"/>
                    <a:pt x="118618" y="0"/>
                    <a:pt x="265049" y="0"/>
                  </a:cubicBezTo>
                  <a:lnTo>
                    <a:pt x="6989699" y="0"/>
                  </a:lnTo>
                  <a:cubicBezTo>
                    <a:pt x="7136130" y="0"/>
                    <a:pt x="7254748" y="118618"/>
                    <a:pt x="7254748" y="265049"/>
                  </a:cubicBezTo>
                  <a:lnTo>
                    <a:pt x="7254748" y="4152900"/>
                  </a:lnTo>
                  <a:cubicBezTo>
                    <a:pt x="7254748" y="4299331"/>
                    <a:pt x="7136130" y="4417949"/>
                    <a:pt x="6989699" y="4417949"/>
                  </a:cubicBezTo>
                  <a:lnTo>
                    <a:pt x="265049" y="4417949"/>
                  </a:lnTo>
                  <a:cubicBezTo>
                    <a:pt x="118618" y="4417949"/>
                    <a:pt x="0" y="4299331"/>
                    <a:pt x="0" y="4152900"/>
                  </a:cubicBezTo>
                  <a:close/>
                </a:path>
              </a:pathLst>
            </a:custGeom>
            <a:solidFill>
              <a:srgbClr val="141820"/>
            </a:solidFill>
            <a:ln w="19065" cap="sq">
              <a:solidFill>
                <a:srgbClr val="2A323E"/>
              </a:solidFill>
              <a:prstDash val="solid"/>
              <a:miter/>
            </a:ln>
          </p:spPr>
        </p:sp>
      </p:grpSp>
      <p:sp>
        <p:nvSpPr>
          <p:cNvPr name="TextBox 35" id="35"/>
          <p:cNvSpPr txBox="true"/>
          <p:nvPr/>
        </p:nvSpPr>
        <p:spPr>
          <a:xfrm rot="0">
            <a:off x="12541577" y="5804497"/>
            <a:ext cx="4621473" cy="436616"/>
          </a:xfrm>
          <a:prstGeom prst="rect">
            <a:avLst/>
          </a:prstGeom>
        </p:spPr>
        <p:txBody>
          <a:bodyPr anchor="t" rtlCol="false" tIns="0" lIns="0" bIns="0" rIns="0">
            <a:spAutoFit/>
          </a:bodyPr>
          <a:lstStyle/>
          <a:p>
            <a:pPr algn="l">
              <a:lnSpc>
                <a:spcPts val="2269"/>
              </a:lnSpc>
            </a:pPr>
            <a:r>
              <a:rPr lang="en-US" sz="1801" b="true">
                <a:solidFill>
                  <a:srgbClr val="3FB950"/>
                </a:solidFill>
                <a:latin typeface="Consolas Bold"/>
                <a:ea typeface="Consolas Bold"/>
                <a:cs typeface="Consolas Bold"/>
                <a:sym typeface="Consolas Bold"/>
              </a:rPr>
              <a:t>06</a:t>
            </a:r>
          </a:p>
        </p:txBody>
      </p:sp>
      <p:sp>
        <p:nvSpPr>
          <p:cNvPr name="TextBox 36" id="36"/>
          <p:cNvSpPr txBox="true"/>
          <p:nvPr/>
        </p:nvSpPr>
        <p:spPr>
          <a:xfrm rot="0">
            <a:off x="12541577" y="6299787"/>
            <a:ext cx="4621473" cy="476679"/>
          </a:xfrm>
          <a:prstGeom prst="rect">
            <a:avLst/>
          </a:prstGeom>
        </p:spPr>
        <p:txBody>
          <a:bodyPr anchor="t" rtlCol="false" tIns="0" lIns="0" bIns="0" rIns="0">
            <a:spAutoFit/>
          </a:bodyPr>
          <a:lstStyle/>
          <a:p>
            <a:pPr algn="l">
              <a:lnSpc>
                <a:spcPts val="3404"/>
              </a:lnSpc>
            </a:pPr>
            <a:r>
              <a:rPr lang="en-US" sz="2702" b="true">
                <a:solidFill>
                  <a:srgbClr val="FFFFFF"/>
                </a:solidFill>
                <a:latin typeface="Segoe UI Bold"/>
                <a:ea typeface="Segoe UI Bold"/>
                <a:cs typeface="Segoe UI Bold"/>
                <a:sym typeface="Segoe UI Bold"/>
              </a:rPr>
              <a:t>Empty manifest</a:t>
            </a:r>
          </a:p>
        </p:txBody>
      </p:sp>
      <p:sp>
        <p:nvSpPr>
          <p:cNvPr name="TextBox 37" id="37"/>
          <p:cNvSpPr txBox="true"/>
          <p:nvPr/>
        </p:nvSpPr>
        <p:spPr>
          <a:xfrm rot="0">
            <a:off x="12541577" y="7036822"/>
            <a:ext cx="4621473" cy="1496654"/>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ldd: libc and libm only. grep for every package file: no output.</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6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ZERO-DEPENDENCY CRAFT</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The proof, not the claim</a:t>
            </a:r>
          </a:p>
        </p:txBody>
      </p:sp>
      <p:grpSp>
        <p:nvGrpSpPr>
          <p:cNvPr name="Group 8" id="8"/>
          <p:cNvGrpSpPr/>
          <p:nvPr/>
        </p:nvGrpSpPr>
        <p:grpSpPr>
          <a:xfrm rot="0">
            <a:off x="745436" y="1912210"/>
            <a:ext cx="10588638" cy="7431500"/>
            <a:chOff x="0" y="0"/>
            <a:chExt cx="14118184" cy="9908667"/>
          </a:xfrm>
        </p:grpSpPr>
        <p:sp>
          <p:nvSpPr>
            <p:cNvPr name="Freeform 9" id="9"/>
            <p:cNvSpPr/>
            <p:nvPr/>
          </p:nvSpPr>
          <p:spPr>
            <a:xfrm flipH="false" flipV="false" rot="0">
              <a:off x="0" y="0"/>
              <a:ext cx="14118210" cy="9908667"/>
            </a:xfrm>
            <a:custGeom>
              <a:avLst/>
              <a:gdLst/>
              <a:ahLst/>
              <a:cxnLst/>
              <a:rect r="r" b="b" t="t" l="l"/>
              <a:pathLst>
                <a:path h="9908667" w="14118210">
                  <a:moveTo>
                    <a:pt x="0" y="297307"/>
                  </a:moveTo>
                  <a:cubicBezTo>
                    <a:pt x="0" y="133096"/>
                    <a:pt x="133096" y="0"/>
                    <a:pt x="297307" y="0"/>
                  </a:cubicBezTo>
                  <a:lnTo>
                    <a:pt x="13820902" y="0"/>
                  </a:lnTo>
                  <a:cubicBezTo>
                    <a:pt x="13985114" y="0"/>
                    <a:pt x="14118210" y="133096"/>
                    <a:pt x="14118210" y="297307"/>
                  </a:cubicBezTo>
                  <a:lnTo>
                    <a:pt x="14118210" y="9611360"/>
                  </a:lnTo>
                  <a:cubicBezTo>
                    <a:pt x="14118210" y="9775571"/>
                    <a:pt x="13985114" y="9908667"/>
                    <a:pt x="13820902" y="9908667"/>
                  </a:cubicBezTo>
                  <a:lnTo>
                    <a:pt x="297307" y="9908667"/>
                  </a:lnTo>
                  <a:cubicBezTo>
                    <a:pt x="133096" y="9908667"/>
                    <a:pt x="0" y="9775571"/>
                    <a:pt x="0" y="9611360"/>
                  </a:cubicBezTo>
                  <a:close/>
                </a:path>
              </a:pathLst>
            </a:custGeom>
            <a:solidFill>
              <a:srgbClr val="0D1117"/>
            </a:solidFill>
            <a:ln w="19065" cap="sq">
              <a:solidFill>
                <a:srgbClr val="2A323E"/>
              </a:solidFill>
              <a:prstDash val="solid"/>
              <a:miter/>
            </a:ln>
          </p:spPr>
        </p:sp>
      </p:grpSp>
      <p:sp>
        <p:nvSpPr>
          <p:cNvPr name="TextBox 10" id="10"/>
          <p:cNvSpPr txBox="true"/>
          <p:nvPr/>
        </p:nvSpPr>
        <p:spPr>
          <a:xfrm rot="0">
            <a:off x="1189577" y="2125742"/>
            <a:ext cx="9700365" cy="395440"/>
          </a:xfrm>
          <a:prstGeom prst="rect">
            <a:avLst/>
          </a:prstGeom>
        </p:spPr>
        <p:txBody>
          <a:bodyPr anchor="t" rtlCol="false" tIns="0" lIns="0" bIns="0" rIns="0">
            <a:spAutoFit/>
          </a:bodyPr>
          <a:lstStyle/>
          <a:p>
            <a:pPr algn="l">
              <a:lnSpc>
                <a:spcPts val="2458"/>
              </a:lnSpc>
            </a:pPr>
            <a:r>
              <a:rPr lang="en-US" sz="1951">
                <a:solidFill>
                  <a:srgbClr val="3FB950"/>
                </a:solidFill>
                <a:latin typeface="Consolas"/>
                <a:ea typeface="Consolas"/>
                <a:cs typeface="Consolas"/>
                <a:sym typeface="Consolas"/>
              </a:rPr>
              <a:t>$ ldd llamini</a:t>
            </a:r>
          </a:p>
        </p:txBody>
      </p:sp>
      <p:sp>
        <p:nvSpPr>
          <p:cNvPr name="TextBox 11" id="11"/>
          <p:cNvSpPr txBox="true"/>
          <p:nvPr/>
        </p:nvSpPr>
        <p:spPr>
          <a:xfrm rot="0">
            <a:off x="1189577" y="2647350"/>
            <a:ext cx="9700365" cy="395440"/>
          </a:xfrm>
          <a:prstGeom prst="rect">
            <a:avLst/>
          </a:prstGeom>
        </p:spPr>
        <p:txBody>
          <a:bodyPr anchor="t" rtlCol="false" tIns="0" lIns="0" bIns="0" rIns="0">
            <a:spAutoFit/>
          </a:bodyPr>
          <a:lstStyle/>
          <a:p>
            <a:pPr algn="l">
              <a:lnSpc>
                <a:spcPts val="2458"/>
              </a:lnSpc>
            </a:pPr>
            <a:r>
              <a:rPr lang="en-US" sz="1951">
                <a:solidFill>
                  <a:srgbClr val="5A6470"/>
                </a:solidFill>
                <a:latin typeface="Consolas"/>
                <a:ea typeface="Consolas"/>
                <a:cs typeface="Consolas"/>
                <a:sym typeface="Consolas"/>
              </a:rPr>
              <a:t>        linux-vdso.so.1</a:t>
            </a:r>
          </a:p>
        </p:txBody>
      </p:sp>
      <p:sp>
        <p:nvSpPr>
          <p:cNvPr name="TextBox 12" id="12"/>
          <p:cNvSpPr txBox="true"/>
          <p:nvPr/>
        </p:nvSpPr>
        <p:spPr>
          <a:xfrm rot="0">
            <a:off x="1189577" y="3168967"/>
            <a:ext cx="9700365" cy="395440"/>
          </a:xfrm>
          <a:prstGeom prst="rect">
            <a:avLst/>
          </a:prstGeom>
        </p:spPr>
        <p:txBody>
          <a:bodyPr anchor="t" rtlCol="false" tIns="0" lIns="0" bIns="0" rIns="0">
            <a:spAutoFit/>
          </a:bodyPr>
          <a:lstStyle/>
          <a:p>
            <a:pPr algn="l">
              <a:lnSpc>
                <a:spcPts val="2458"/>
              </a:lnSpc>
            </a:pPr>
            <a:r>
              <a:rPr lang="en-US" sz="1951">
                <a:solidFill>
                  <a:srgbClr val="ECF1F5"/>
                </a:solidFill>
                <a:latin typeface="Consolas"/>
                <a:ea typeface="Consolas"/>
                <a:cs typeface="Consolas"/>
                <a:sym typeface="Consolas"/>
              </a:rPr>
              <a:t>        libm.so.6 =&gt; /usr/lib/x86_64-linux-gnu/libm.so.6</a:t>
            </a:r>
          </a:p>
        </p:txBody>
      </p:sp>
      <p:sp>
        <p:nvSpPr>
          <p:cNvPr name="TextBox 13" id="13"/>
          <p:cNvSpPr txBox="true"/>
          <p:nvPr/>
        </p:nvSpPr>
        <p:spPr>
          <a:xfrm rot="0">
            <a:off x="1189577" y="3690585"/>
            <a:ext cx="9700365" cy="395440"/>
          </a:xfrm>
          <a:prstGeom prst="rect">
            <a:avLst/>
          </a:prstGeom>
        </p:spPr>
        <p:txBody>
          <a:bodyPr anchor="t" rtlCol="false" tIns="0" lIns="0" bIns="0" rIns="0">
            <a:spAutoFit/>
          </a:bodyPr>
          <a:lstStyle/>
          <a:p>
            <a:pPr algn="l">
              <a:lnSpc>
                <a:spcPts val="2458"/>
              </a:lnSpc>
            </a:pPr>
            <a:r>
              <a:rPr lang="en-US" sz="1951">
                <a:solidFill>
                  <a:srgbClr val="ECF1F5"/>
                </a:solidFill>
                <a:latin typeface="Consolas"/>
                <a:ea typeface="Consolas"/>
                <a:cs typeface="Consolas"/>
                <a:sym typeface="Consolas"/>
              </a:rPr>
              <a:t>        libc.so.6 =&gt; /usr/lib/x86_64-linux-gnu/libc.so.6</a:t>
            </a:r>
          </a:p>
        </p:txBody>
      </p:sp>
      <p:sp>
        <p:nvSpPr>
          <p:cNvPr name="TextBox 14" id="14"/>
          <p:cNvSpPr txBox="true"/>
          <p:nvPr/>
        </p:nvSpPr>
        <p:spPr>
          <a:xfrm rot="0">
            <a:off x="1189577" y="4212203"/>
            <a:ext cx="9700365" cy="395440"/>
          </a:xfrm>
          <a:prstGeom prst="rect">
            <a:avLst/>
          </a:prstGeom>
        </p:spPr>
        <p:txBody>
          <a:bodyPr anchor="t" rtlCol="false" tIns="0" lIns="0" bIns="0" rIns="0">
            <a:spAutoFit/>
          </a:bodyPr>
          <a:lstStyle/>
          <a:p>
            <a:pPr algn="l">
              <a:lnSpc>
                <a:spcPts val="2458"/>
              </a:lnSpc>
            </a:pPr>
            <a:r>
              <a:rPr lang="en-US" sz="1951">
                <a:solidFill>
                  <a:srgbClr val="5A6470"/>
                </a:solidFill>
                <a:latin typeface="Consolas"/>
                <a:ea typeface="Consolas"/>
                <a:cs typeface="Consolas"/>
                <a:sym typeface="Consolas"/>
              </a:rPr>
              <a:t>        /lib64/ld-linux-x86-64.so.2</a:t>
            </a:r>
          </a:p>
        </p:txBody>
      </p:sp>
      <p:sp>
        <p:nvSpPr>
          <p:cNvPr name="TextBox 15" id="15"/>
          <p:cNvSpPr txBox="true"/>
          <p:nvPr/>
        </p:nvSpPr>
        <p:spPr>
          <a:xfrm rot="0">
            <a:off x="1189577" y="5255428"/>
            <a:ext cx="9700365" cy="395440"/>
          </a:xfrm>
          <a:prstGeom prst="rect">
            <a:avLst/>
          </a:prstGeom>
        </p:spPr>
        <p:txBody>
          <a:bodyPr anchor="t" rtlCol="false" tIns="0" lIns="0" bIns="0" rIns="0">
            <a:spAutoFit/>
          </a:bodyPr>
          <a:lstStyle/>
          <a:p>
            <a:pPr algn="l">
              <a:lnSpc>
                <a:spcPts val="2458"/>
              </a:lnSpc>
            </a:pPr>
            <a:r>
              <a:rPr lang="en-US" sz="1951">
                <a:solidFill>
                  <a:srgbClr val="8B949E"/>
                </a:solidFill>
                <a:latin typeface="Consolas"/>
                <a:ea typeface="Consolas"/>
                <a:cs typeface="Consolas"/>
                <a:sym typeface="Consolas"/>
              </a:rPr>
              <a:t># libc and libm. Both standard. Nothing else.</a:t>
            </a:r>
          </a:p>
        </p:txBody>
      </p:sp>
      <p:sp>
        <p:nvSpPr>
          <p:cNvPr name="TextBox 16" id="16"/>
          <p:cNvSpPr txBox="true"/>
          <p:nvPr/>
        </p:nvSpPr>
        <p:spPr>
          <a:xfrm rot="0">
            <a:off x="1189577" y="6298663"/>
            <a:ext cx="9700365" cy="395440"/>
          </a:xfrm>
          <a:prstGeom prst="rect">
            <a:avLst/>
          </a:prstGeom>
        </p:spPr>
        <p:txBody>
          <a:bodyPr anchor="t" rtlCol="false" tIns="0" lIns="0" bIns="0" rIns="0">
            <a:spAutoFit/>
          </a:bodyPr>
          <a:lstStyle/>
          <a:p>
            <a:pPr algn="l">
              <a:lnSpc>
                <a:spcPts val="2458"/>
              </a:lnSpc>
            </a:pPr>
            <a:r>
              <a:rPr lang="en-US" sz="1951">
                <a:solidFill>
                  <a:srgbClr val="3FB950"/>
                </a:solidFill>
                <a:latin typeface="Consolas"/>
                <a:ea typeface="Consolas"/>
                <a:cs typeface="Consolas"/>
                <a:sym typeface="Consolas"/>
              </a:rPr>
              <a:t>$ grep -RIlE 'package.json|Cargo.toml|vcpkg.json|CMakeLists.txt' .</a:t>
            </a:r>
          </a:p>
        </p:txBody>
      </p:sp>
      <p:sp>
        <p:nvSpPr>
          <p:cNvPr name="TextBox 17" id="17"/>
          <p:cNvSpPr txBox="true"/>
          <p:nvPr/>
        </p:nvSpPr>
        <p:spPr>
          <a:xfrm rot="0">
            <a:off x="1189577" y="7341889"/>
            <a:ext cx="9700365" cy="395440"/>
          </a:xfrm>
          <a:prstGeom prst="rect">
            <a:avLst/>
          </a:prstGeom>
        </p:spPr>
        <p:txBody>
          <a:bodyPr anchor="t" rtlCol="false" tIns="0" lIns="0" bIns="0" rIns="0">
            <a:spAutoFit/>
          </a:bodyPr>
          <a:lstStyle/>
          <a:p>
            <a:pPr algn="l">
              <a:lnSpc>
                <a:spcPts val="2458"/>
              </a:lnSpc>
            </a:pPr>
            <a:r>
              <a:rPr lang="en-US" sz="1951">
                <a:solidFill>
                  <a:srgbClr val="D29922"/>
                </a:solidFill>
                <a:latin typeface="Consolas"/>
                <a:ea typeface="Consolas"/>
                <a:cs typeface="Consolas"/>
                <a:sym typeface="Consolas"/>
              </a:rPr>
              <a:t>(no output  =  no matches)</a:t>
            </a:r>
          </a:p>
        </p:txBody>
      </p:sp>
      <p:grpSp>
        <p:nvGrpSpPr>
          <p:cNvPr name="Group 18" id="18"/>
          <p:cNvGrpSpPr/>
          <p:nvPr/>
        </p:nvGrpSpPr>
        <p:grpSpPr>
          <a:xfrm rot="0">
            <a:off x="11589544" y="1912210"/>
            <a:ext cx="5990187" cy="3450746"/>
            <a:chOff x="0" y="0"/>
            <a:chExt cx="7986916" cy="4600994"/>
          </a:xfrm>
        </p:grpSpPr>
        <p:sp>
          <p:nvSpPr>
            <p:cNvPr name="Freeform 19" id="19"/>
            <p:cNvSpPr/>
            <p:nvPr/>
          </p:nvSpPr>
          <p:spPr>
            <a:xfrm flipH="false" flipV="false" rot="0">
              <a:off x="0" y="0"/>
              <a:ext cx="7986903" cy="4601083"/>
            </a:xfrm>
            <a:custGeom>
              <a:avLst/>
              <a:gdLst/>
              <a:ahLst/>
              <a:cxnLst/>
              <a:rect r="r" b="b" t="t" l="l"/>
              <a:pathLst>
                <a:path h="4601083" w="7986903">
                  <a:moveTo>
                    <a:pt x="0" y="276098"/>
                  </a:moveTo>
                  <a:cubicBezTo>
                    <a:pt x="0" y="123571"/>
                    <a:pt x="123571" y="0"/>
                    <a:pt x="276098" y="0"/>
                  </a:cubicBezTo>
                  <a:lnTo>
                    <a:pt x="7710805" y="0"/>
                  </a:lnTo>
                  <a:cubicBezTo>
                    <a:pt x="7863332" y="0"/>
                    <a:pt x="7986903" y="123571"/>
                    <a:pt x="7986903" y="276098"/>
                  </a:cubicBezTo>
                  <a:lnTo>
                    <a:pt x="7986903" y="4324985"/>
                  </a:lnTo>
                  <a:cubicBezTo>
                    <a:pt x="7986903" y="4477512"/>
                    <a:pt x="7863332" y="4601083"/>
                    <a:pt x="7710805" y="4601083"/>
                  </a:cubicBezTo>
                  <a:lnTo>
                    <a:pt x="276098" y="4601083"/>
                  </a:lnTo>
                  <a:cubicBezTo>
                    <a:pt x="123571" y="4600956"/>
                    <a:pt x="0" y="4477385"/>
                    <a:pt x="0" y="4324985"/>
                  </a:cubicBezTo>
                  <a:close/>
                </a:path>
              </a:pathLst>
            </a:custGeom>
            <a:solidFill>
              <a:srgbClr val="141820"/>
            </a:solidFill>
            <a:ln w="19065" cap="sq">
              <a:solidFill>
                <a:srgbClr val="2A323E"/>
              </a:solidFill>
              <a:prstDash val="solid"/>
              <a:miter/>
            </a:ln>
          </p:spPr>
        </p:sp>
      </p:grpSp>
      <p:sp>
        <p:nvSpPr>
          <p:cNvPr name="TextBox 20" id="20"/>
          <p:cNvSpPr txBox="true"/>
          <p:nvPr/>
        </p:nvSpPr>
        <p:spPr>
          <a:xfrm rot="0">
            <a:off x="11965057" y="2163842"/>
            <a:ext cx="5307806" cy="398516"/>
          </a:xfrm>
          <a:prstGeom prst="rect">
            <a:avLst/>
          </a:prstGeom>
        </p:spPr>
        <p:txBody>
          <a:bodyPr anchor="t" rtlCol="false" tIns="0" lIns="0" bIns="0" rIns="0">
            <a:spAutoFit/>
          </a:bodyPr>
          <a:lstStyle/>
          <a:p>
            <a:pPr algn="l">
              <a:lnSpc>
                <a:spcPts val="2458"/>
              </a:lnSpc>
            </a:pPr>
            <a:r>
              <a:rPr lang="en-US" sz="1951" b="true">
                <a:solidFill>
                  <a:srgbClr val="8B949E"/>
                </a:solidFill>
                <a:latin typeface="Segoe UI Bold"/>
                <a:ea typeface="Segoe UI Bold"/>
                <a:cs typeface="Segoe UI Bold"/>
                <a:sym typeface="Segoe UI Bold"/>
              </a:rPr>
              <a:t>Linked libraries</a:t>
            </a:r>
          </a:p>
        </p:txBody>
      </p:sp>
      <p:sp>
        <p:nvSpPr>
          <p:cNvPr name="TextBox 21" id="21"/>
          <p:cNvSpPr txBox="true"/>
          <p:nvPr/>
        </p:nvSpPr>
        <p:spPr>
          <a:xfrm rot="0">
            <a:off x="11965057" y="2684336"/>
            <a:ext cx="5307806" cy="907532"/>
          </a:xfrm>
          <a:prstGeom prst="rect">
            <a:avLst/>
          </a:prstGeom>
        </p:spPr>
        <p:txBody>
          <a:bodyPr anchor="t" rtlCol="false" tIns="0" lIns="0" bIns="0" rIns="0">
            <a:spAutoFit/>
          </a:bodyPr>
          <a:lstStyle/>
          <a:p>
            <a:pPr algn="l">
              <a:lnSpc>
                <a:spcPts val="8322"/>
              </a:lnSpc>
            </a:pPr>
            <a:r>
              <a:rPr lang="en-US" sz="6605" b="true">
                <a:solidFill>
                  <a:srgbClr val="3FB950"/>
                </a:solidFill>
                <a:latin typeface="Segoe UI Bold"/>
                <a:ea typeface="Segoe UI Bold"/>
                <a:cs typeface="Segoe UI Bold"/>
                <a:sym typeface="Segoe UI Bold"/>
              </a:rPr>
              <a:t>2</a:t>
            </a:r>
          </a:p>
        </p:txBody>
      </p:sp>
      <p:sp>
        <p:nvSpPr>
          <p:cNvPr name="TextBox 22" id="22"/>
          <p:cNvSpPr txBox="true"/>
          <p:nvPr/>
        </p:nvSpPr>
        <p:spPr>
          <a:xfrm rot="0">
            <a:off x="11965057" y="3742411"/>
            <a:ext cx="5307806" cy="1153487"/>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libc  +  libm</a:t>
            </a:r>
          </a:p>
          <a:p>
            <a:pPr algn="l">
              <a:lnSpc>
                <a:spcPts val="2458"/>
              </a:lnSpc>
            </a:pPr>
            <a:r>
              <a:rPr lang="en-US" sz="1951">
                <a:solidFill>
                  <a:srgbClr val="8B949E"/>
                </a:solidFill>
                <a:latin typeface="Segoe UI"/>
                <a:ea typeface="Segoe UI"/>
                <a:cs typeface="Segoe UI"/>
                <a:sym typeface="Segoe UI"/>
              </a:rPr>
              <a:t>vdso and ld-linux are the kernel and the dynamic linker, not packages.</a:t>
            </a:r>
          </a:p>
        </p:txBody>
      </p:sp>
      <p:grpSp>
        <p:nvGrpSpPr>
          <p:cNvPr name="Group 23" id="23"/>
          <p:cNvGrpSpPr/>
          <p:nvPr/>
        </p:nvGrpSpPr>
        <p:grpSpPr>
          <a:xfrm rot="0">
            <a:off x="11589544" y="5618426"/>
            <a:ext cx="5990187" cy="3725285"/>
            <a:chOff x="0" y="0"/>
            <a:chExt cx="7986916" cy="4967046"/>
          </a:xfrm>
        </p:grpSpPr>
        <p:sp>
          <p:nvSpPr>
            <p:cNvPr name="Freeform 24" id="24"/>
            <p:cNvSpPr/>
            <p:nvPr/>
          </p:nvSpPr>
          <p:spPr>
            <a:xfrm flipH="false" flipV="false" rot="0">
              <a:off x="0" y="0"/>
              <a:ext cx="7986902" cy="4967097"/>
            </a:xfrm>
            <a:custGeom>
              <a:avLst/>
              <a:gdLst/>
              <a:ahLst/>
              <a:cxnLst/>
              <a:rect r="r" b="b" t="t" l="l"/>
              <a:pathLst>
                <a:path h="4967097" w="7986902">
                  <a:moveTo>
                    <a:pt x="0" y="298069"/>
                  </a:moveTo>
                  <a:cubicBezTo>
                    <a:pt x="0" y="133477"/>
                    <a:pt x="133477" y="0"/>
                    <a:pt x="298069" y="0"/>
                  </a:cubicBezTo>
                  <a:lnTo>
                    <a:pt x="7688834" y="0"/>
                  </a:lnTo>
                  <a:cubicBezTo>
                    <a:pt x="7853426" y="0"/>
                    <a:pt x="7986902" y="133477"/>
                    <a:pt x="7986902" y="298069"/>
                  </a:cubicBezTo>
                  <a:lnTo>
                    <a:pt x="7986902" y="4669028"/>
                  </a:lnTo>
                  <a:cubicBezTo>
                    <a:pt x="7986902" y="4833620"/>
                    <a:pt x="7853426" y="4967097"/>
                    <a:pt x="7688834" y="4967097"/>
                  </a:cubicBezTo>
                  <a:lnTo>
                    <a:pt x="298069" y="4967097"/>
                  </a:lnTo>
                  <a:cubicBezTo>
                    <a:pt x="133477" y="4967097"/>
                    <a:pt x="0" y="4833620"/>
                    <a:pt x="0" y="4669028"/>
                  </a:cubicBezTo>
                  <a:close/>
                </a:path>
              </a:pathLst>
            </a:custGeom>
            <a:solidFill>
              <a:srgbClr val="141820"/>
            </a:solidFill>
            <a:ln w="19065" cap="sq">
              <a:solidFill>
                <a:srgbClr val="2A323E"/>
              </a:solidFill>
              <a:prstDash val="solid"/>
              <a:miter/>
            </a:ln>
          </p:spPr>
        </p:sp>
      </p:grpSp>
      <p:sp>
        <p:nvSpPr>
          <p:cNvPr name="TextBox 25" id="25"/>
          <p:cNvSpPr txBox="true"/>
          <p:nvPr/>
        </p:nvSpPr>
        <p:spPr>
          <a:xfrm rot="0">
            <a:off x="11965057" y="5870048"/>
            <a:ext cx="5307806" cy="398516"/>
          </a:xfrm>
          <a:prstGeom prst="rect">
            <a:avLst/>
          </a:prstGeom>
        </p:spPr>
        <p:txBody>
          <a:bodyPr anchor="t" rtlCol="false" tIns="0" lIns="0" bIns="0" rIns="0">
            <a:spAutoFit/>
          </a:bodyPr>
          <a:lstStyle/>
          <a:p>
            <a:pPr algn="l">
              <a:lnSpc>
                <a:spcPts val="2458"/>
              </a:lnSpc>
            </a:pPr>
            <a:r>
              <a:rPr lang="en-US" sz="1951" b="true">
                <a:solidFill>
                  <a:srgbClr val="D29922"/>
                </a:solidFill>
                <a:latin typeface="Segoe UI Bold"/>
                <a:ea typeface="Segoe UI Bold"/>
                <a:cs typeface="Segoe UI Bold"/>
                <a:sym typeface="Segoe UI Bold"/>
              </a:rPr>
              <a:t>Why --setup prints curl</a:t>
            </a:r>
          </a:p>
        </p:txBody>
      </p:sp>
      <p:sp>
        <p:nvSpPr>
          <p:cNvPr name="TextBox 26" id="26"/>
          <p:cNvSpPr txBox="true"/>
          <p:nvPr/>
        </p:nvSpPr>
        <p:spPr>
          <a:xfrm rot="0">
            <a:off x="11965057" y="6487754"/>
            <a:ext cx="5307806" cy="2457526"/>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HuggingFace is HTTPS-only. Hand-rolling TLS, or quietly shelling out to curl, both break the rule. So the command is printed — you read it before you run it.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7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STDLIB.MD</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What this replaces</a:t>
            </a:r>
          </a:p>
        </p:txBody>
      </p:sp>
      <p:graphicFrame>
        <p:nvGraphicFramePr>
          <p:cNvPr name="Table 8" id="8"/>
          <p:cNvGraphicFramePr>
            <a:graphicFrameLocks noGrp="true"/>
          </p:cNvGraphicFramePr>
          <p:nvPr/>
        </p:nvGraphicFramePr>
        <p:xfrm>
          <a:off x="754970" y="1921741"/>
          <a:ext cx="16796172" cy="7320919"/>
        </p:xfrm>
        <a:graphic>
          <a:graphicData uri="http://schemas.openxmlformats.org/drawingml/2006/table">
            <a:tbl>
              <a:tblPr/>
              <a:tblGrid>
                <a:gridCol w="7406276"/>
                <a:gridCol w="9389896"/>
              </a:tblGrid>
              <a:tr h="915115">
                <a:tc>
                  <a:txBody>
                    <a:bodyPr anchor="t" rtlCol="false"/>
                    <a:lstStyle/>
                    <a:p>
                      <a:pPr algn="l">
                        <a:lnSpc>
                          <a:spcPts val="2161"/>
                        </a:lnSpc>
                        <a:defRPr/>
                      </a:pPr>
                      <a:r>
                        <a:rPr lang="en-US" sz="1801" b="true">
                          <a:solidFill>
                            <a:srgbClr val="3FB950"/>
                          </a:solidFill>
                          <a:latin typeface="Segoe UI Bold"/>
                          <a:ea typeface="Segoe UI Bold"/>
                          <a:cs typeface="Segoe UI Bold"/>
                          <a:sym typeface="Segoe UI Bold"/>
                        </a:rPr>
                        <a:t>People actually install</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l">
                        <a:lnSpc>
                          <a:spcPts val="2161"/>
                        </a:lnSpc>
                        <a:defRPr/>
                      </a:pPr>
                      <a:r>
                        <a:rPr lang="en-US" sz="1801" b="true">
                          <a:solidFill>
                            <a:srgbClr val="FFFFFF"/>
                          </a:solidFill>
                          <a:latin typeface="Segoe UI Bold"/>
                          <a:ea typeface="Segoe UI Bold"/>
                          <a:cs typeface="Segoe UI Bold"/>
                          <a:sym typeface="Segoe UI Bold"/>
                        </a:rPr>
                        <a:t>Replaced here by</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ggml / llama.cpp as a library</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gguf.c + model.c + gpt2.c</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sentencepiece / libsentencepiece</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tokenizer.c  (SPM path, from the GGUF vocab)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byte-level BPE (tiktoken-adjacent)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tokenizer.c  (second path, rank-based merges)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numpy / a BLAS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linear() in model.c  (thread pool + lazy dequant)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llama-cpp-python, ctransformers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the CLI is the binary</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huggingface_hub / silent curl</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printed curl command + POSIX stat()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r h="915115">
                <a:tc>
                  <a:txBody>
                    <a:bodyPr anchor="t" rtlCol="false"/>
                    <a:lstStyle/>
                    <a:p>
                      <a:pPr algn="l">
                        <a:lnSpc>
                          <a:spcPts val="2341"/>
                        </a:lnSpc>
                        <a:defRPr/>
                      </a:pPr>
                      <a:r>
                        <a:rPr lang="en-US" sz="1951" b="true">
                          <a:solidFill>
                            <a:srgbClr val="8B949E"/>
                          </a:solidFill>
                          <a:latin typeface="Consolas Bold"/>
                          <a:ea typeface="Consolas Bold"/>
                          <a:cs typeface="Consolas Bold"/>
                          <a:sym typeface="Consolas Bold"/>
                        </a:rPr>
                        <a:t>CTest / Unity / Check</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341"/>
                        </a:lnSpc>
                        <a:defRPr/>
                      </a:pPr>
                      <a:r>
                        <a:rPr lang="en-US" sz="1951">
                          <a:solidFill>
                            <a:srgbClr val="ECF1F5"/>
                          </a:solidFill>
                          <a:latin typeface="Consolas"/>
                          <a:ea typeface="Consolas"/>
                          <a:cs typeface="Consolas"/>
                          <a:sym typeface="Consolas"/>
                        </a:rPr>
                        <a:t>--test + printf  (C has no stdlib test runner)</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8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GENERAL.ARCHITECTURE</a:t>
            </a:r>
          </a:p>
        </p:txBody>
      </p:sp>
      <p:sp>
        <p:nvSpPr>
          <p:cNvPr name="TextBox 7" id="7"/>
          <p:cNvSpPr txBox="true"/>
          <p:nvPr/>
        </p:nvSpPr>
        <p:spPr>
          <a:xfrm rot="0">
            <a:off x="846411" y="772116"/>
            <a:ext cx="16563727"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Four families, auto-detected from the file</a:t>
            </a:r>
          </a:p>
        </p:txBody>
      </p:sp>
      <p:graphicFrame>
        <p:nvGraphicFramePr>
          <p:cNvPr name="Table 8" id="8"/>
          <p:cNvGraphicFramePr>
            <a:graphicFrameLocks noGrp="true"/>
          </p:cNvGraphicFramePr>
          <p:nvPr/>
        </p:nvGraphicFramePr>
        <p:xfrm>
          <a:off x="754970" y="1921741"/>
          <a:ext cx="15404435" cy="4575575"/>
        </p:xfrm>
        <a:graphic>
          <a:graphicData uri="http://schemas.openxmlformats.org/drawingml/2006/table">
            <a:tbl>
              <a:tblPr/>
              <a:tblGrid>
                <a:gridCol w="5047973"/>
                <a:gridCol w="1853818"/>
                <a:gridCol w="1649936"/>
                <a:gridCol w="3213033"/>
                <a:gridCol w="1989739"/>
                <a:gridCol w="1649936"/>
              </a:tblGrid>
              <a:tr h="915115">
                <a:tc>
                  <a:txBody>
                    <a:bodyPr anchor="t" rtlCol="false"/>
                    <a:lstStyle/>
                    <a:p>
                      <a:pPr algn="l">
                        <a:lnSpc>
                          <a:spcPts val="2161"/>
                        </a:lnSpc>
                        <a:defRPr/>
                      </a:pPr>
                      <a:r>
                        <a:rPr lang="en-US" sz="1801" b="true">
                          <a:solidFill>
                            <a:srgbClr val="FFFFFF"/>
                          </a:solidFill>
                          <a:latin typeface="Segoe UI Bold"/>
                          <a:ea typeface="Segoe UI Bold"/>
                          <a:cs typeface="Segoe UI Bold"/>
                          <a:sym typeface="Segoe UI Bold"/>
                        </a:rPr>
                        <a:t>Model</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Arch</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Params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Tokenizer</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PPL*</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Facts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r>
              <a:tr h="915115">
                <a:tc>
                  <a:txBody>
                    <a:bodyPr anchor="t" rtlCol="false"/>
                    <a:lstStyle/>
                    <a:p>
                      <a:pPr algn="l">
                        <a:lnSpc>
                          <a:spcPts val="2161"/>
                        </a:lnSpc>
                        <a:defRPr/>
                      </a:pPr>
                      <a:r>
                        <a:rPr lang="en-US" sz="1801" b="true">
                          <a:solidFill>
                            <a:srgbClr val="ECF1F5"/>
                          </a:solidFill>
                          <a:latin typeface="Segoe UI Bold"/>
                          <a:ea typeface="Segoe UI Bold"/>
                          <a:cs typeface="Segoe UI Bold"/>
                          <a:sym typeface="Segoe UI Bold"/>
                        </a:rPr>
                        <a:t>TinyLlama-1.1B-Chat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llama</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1.1B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SentencePiece</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3FB950"/>
                          </a:solidFill>
                          <a:latin typeface="Consolas"/>
                          <a:ea typeface="Consolas"/>
                          <a:cs typeface="Consolas"/>
                          <a:sym typeface="Consolas"/>
                        </a:rPr>
                        <a:t>13.28</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1 / 3</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915115">
                <a:tc>
                  <a:txBody>
                    <a:bodyPr anchor="t" rtlCol="false"/>
                    <a:lstStyle/>
                    <a:p>
                      <a:pPr algn="l">
                        <a:lnSpc>
                          <a:spcPts val="2161"/>
                        </a:lnSpc>
                        <a:defRPr/>
                      </a:pPr>
                      <a:r>
                        <a:rPr lang="en-US" sz="1801" b="true">
                          <a:solidFill>
                            <a:srgbClr val="ECF1F5"/>
                          </a:solidFill>
                          <a:latin typeface="Segoe UI Bold"/>
                          <a:ea typeface="Segoe UI Bold"/>
                          <a:cs typeface="Segoe UI Bold"/>
                          <a:sym typeface="Segoe UI Bold"/>
                        </a:rPr>
                        <a:t>Qwen2.5-0.5B-Instruct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qwen2</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0.5B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byte-level BPE</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3FB950"/>
                          </a:solidFill>
                          <a:latin typeface="Consolas"/>
                          <a:ea typeface="Consolas"/>
                          <a:cs typeface="Consolas"/>
                          <a:sym typeface="Consolas"/>
                        </a:rPr>
                        <a:t>10.84</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3 / 3</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r h="915115">
                <a:tc>
                  <a:txBody>
                    <a:bodyPr anchor="t" rtlCol="false"/>
                    <a:lstStyle/>
                    <a:p>
                      <a:pPr algn="l">
                        <a:lnSpc>
                          <a:spcPts val="2161"/>
                        </a:lnSpc>
                        <a:defRPr/>
                      </a:pPr>
                      <a:r>
                        <a:rPr lang="en-US" sz="1801" b="true">
                          <a:solidFill>
                            <a:srgbClr val="ECF1F5"/>
                          </a:solidFill>
                          <a:latin typeface="Segoe UI Bold"/>
                          <a:ea typeface="Segoe UI Bold"/>
                          <a:cs typeface="Segoe UI Bold"/>
                          <a:sym typeface="Segoe UI Bold"/>
                        </a:rPr>
                        <a:t>GPT-2</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gpt2</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124M</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byte-level BPE</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3FB950"/>
                          </a:solidFill>
                          <a:latin typeface="Consolas"/>
                          <a:ea typeface="Consolas"/>
                          <a:cs typeface="Consolas"/>
                          <a:sym typeface="Consolas"/>
                        </a:rPr>
                        <a:t>20.58</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0 / 3</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915115">
                <a:tc>
                  <a:txBody>
                    <a:bodyPr anchor="t" rtlCol="false"/>
                    <a:lstStyle/>
                    <a:p>
                      <a:pPr algn="l">
                        <a:lnSpc>
                          <a:spcPts val="2161"/>
                        </a:lnSpc>
                        <a:defRPr/>
                      </a:pPr>
                      <a:r>
                        <a:rPr lang="en-US" sz="1801" b="true">
                          <a:solidFill>
                            <a:srgbClr val="ECF1F5"/>
                          </a:solidFill>
                          <a:latin typeface="Segoe UI Bold"/>
                          <a:ea typeface="Segoe UI Bold"/>
                          <a:cs typeface="Segoe UI Bold"/>
                          <a:sym typeface="Segoe UI Bold"/>
                        </a:rPr>
                        <a:t>Gemma-2b-it</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gemma</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2.5B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SentencePiece</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3FB950"/>
                          </a:solidFill>
                          <a:latin typeface="Consolas"/>
                          <a:ea typeface="Consolas"/>
                          <a:cs typeface="Consolas"/>
                          <a:sym typeface="Consolas"/>
                        </a:rPr>
                        <a:t>73.05</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161"/>
                        </a:lnSpc>
                        <a:defRPr/>
                      </a:pPr>
                      <a:r>
                        <a:rPr lang="en-US" sz="1801">
                          <a:solidFill>
                            <a:srgbClr val="ECF1F5"/>
                          </a:solidFill>
                          <a:latin typeface="Consolas"/>
                          <a:ea typeface="Consolas"/>
                          <a:cs typeface="Consolas"/>
                          <a:sym typeface="Consolas"/>
                        </a:rPr>
                        <a:t>2 / 3</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bl>
          </a:graphicData>
        </a:graphic>
      </p:graphicFrame>
      <p:sp>
        <p:nvSpPr>
          <p:cNvPr name="TextBox 9" id="9"/>
          <p:cNvSpPr txBox="true"/>
          <p:nvPr/>
        </p:nvSpPr>
        <p:spPr>
          <a:xfrm rot="0">
            <a:off x="846411" y="6762293"/>
            <a:ext cx="16632355" cy="2526163"/>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 Teacher-forced perplexity over the same ~35-token English corpus. Not comparable across vocab sizes — compare each number to its own random-guess ceiling: TinyLlama ~32,000 · Qwen2.5 ~151,936 · GPT-2 ~50,257 · Gemma ~256,128. All four sit two-to-three orders of magnitude below chance.</a:t>
            </a:r>
          </a:p>
          <a:p>
            <a:pPr algn="l">
              <a:lnSpc>
                <a:spcPts val="2648"/>
              </a:lnSpc>
            </a:pPr>
            <a:r>
              <a:rPr lang="en-US" sz="2101">
                <a:solidFill>
                  <a:srgbClr val="ECF1F5"/>
                </a:solidFill>
                <a:latin typeface="Segoe UI"/>
                <a:ea typeface="Segoe UI"/>
                <a:cs typeface="Segoe UI"/>
                <a:sym typeface="Segoe UI"/>
              </a:rPr>
              <a:t>GPT-2 is its own module (fused QKV, LayerNorm, learned positions, no RoPE). Qwen2 needed NEOX RoPE, QKV bias, and Q5_0 — found by probing the real file, not assumed from the “Q4_K_M” name. Gemma was untestable at ~10–12 GB until lazy dequant dropped it to ~1.5 GB.</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9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--BENCH</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Not “it looks like English”</a:t>
            </a:r>
          </a:p>
        </p:txBody>
      </p:sp>
      <p:grpSp>
        <p:nvGrpSpPr>
          <p:cNvPr name="Group 8" id="8"/>
          <p:cNvGrpSpPr/>
          <p:nvPr/>
        </p:nvGrpSpPr>
        <p:grpSpPr>
          <a:xfrm rot="0">
            <a:off x="745436" y="1912210"/>
            <a:ext cx="4137079" cy="3244844"/>
            <a:chOff x="0" y="0"/>
            <a:chExt cx="5516105" cy="4326458"/>
          </a:xfrm>
        </p:grpSpPr>
        <p:sp>
          <p:nvSpPr>
            <p:cNvPr name="Freeform 9" id="9"/>
            <p:cNvSpPr/>
            <p:nvPr/>
          </p:nvSpPr>
          <p:spPr>
            <a:xfrm flipH="false" flipV="false" rot="0">
              <a:off x="0" y="0"/>
              <a:ext cx="5516118" cy="4326509"/>
            </a:xfrm>
            <a:custGeom>
              <a:avLst/>
              <a:gdLst/>
              <a:ahLst/>
              <a:cxnLst/>
              <a:rect r="r" b="b" t="t" l="l"/>
              <a:pathLst>
                <a:path h="4326509" w="5516118">
                  <a:moveTo>
                    <a:pt x="0" y="259588"/>
                  </a:moveTo>
                  <a:cubicBezTo>
                    <a:pt x="0" y="116205"/>
                    <a:pt x="116205" y="0"/>
                    <a:pt x="259588" y="0"/>
                  </a:cubicBezTo>
                  <a:lnTo>
                    <a:pt x="5256530" y="0"/>
                  </a:lnTo>
                  <a:cubicBezTo>
                    <a:pt x="5399913" y="0"/>
                    <a:pt x="5516118" y="116205"/>
                    <a:pt x="5516118" y="259588"/>
                  </a:cubicBezTo>
                  <a:lnTo>
                    <a:pt x="5516118" y="4066921"/>
                  </a:lnTo>
                  <a:cubicBezTo>
                    <a:pt x="5516118" y="4210304"/>
                    <a:pt x="5399913" y="4326509"/>
                    <a:pt x="5256530"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052312" y="2059067"/>
            <a:ext cx="3523336" cy="1189634"/>
          </a:xfrm>
          <a:prstGeom prst="rect">
            <a:avLst/>
          </a:prstGeom>
        </p:spPr>
        <p:txBody>
          <a:bodyPr anchor="t" rtlCol="false" tIns="0" lIns="0" bIns="0" rIns="0">
            <a:spAutoFit/>
          </a:bodyPr>
          <a:lstStyle/>
          <a:p>
            <a:pPr algn="ctr">
              <a:lnSpc>
                <a:spcPts val="6052"/>
              </a:lnSpc>
            </a:pPr>
            <a:r>
              <a:rPr lang="en-US" sz="4803" b="true">
                <a:solidFill>
                  <a:srgbClr val="3FB950"/>
                </a:solidFill>
                <a:latin typeface="Consolas Bold"/>
                <a:ea typeface="Consolas Bold"/>
                <a:cs typeface="Consolas Bold"/>
                <a:sym typeface="Consolas Bold"/>
              </a:rPr>
              <a:t>20.58</a:t>
            </a:r>
          </a:p>
        </p:txBody>
      </p:sp>
      <p:sp>
        <p:nvSpPr>
          <p:cNvPr name="TextBox 11" id="11"/>
          <p:cNvSpPr txBox="true"/>
          <p:nvPr/>
        </p:nvSpPr>
        <p:spPr>
          <a:xfrm rot="0">
            <a:off x="1052312" y="3330607"/>
            <a:ext cx="3523336" cy="467154"/>
          </a:xfrm>
          <a:prstGeom prst="rect">
            <a:avLst/>
          </a:prstGeom>
        </p:spPr>
        <p:txBody>
          <a:bodyPr anchor="t" rtlCol="false" tIns="0" lIns="0" bIns="0" rIns="0">
            <a:spAutoFit/>
          </a:bodyPr>
          <a:lstStyle/>
          <a:p>
            <a:pPr algn="ctr">
              <a:lnSpc>
                <a:spcPts val="2648"/>
              </a:lnSpc>
            </a:pPr>
            <a:r>
              <a:rPr lang="en-US" sz="2101" b="true">
                <a:solidFill>
                  <a:srgbClr val="FFFFFF"/>
                </a:solidFill>
                <a:latin typeface="Segoe UI Bold"/>
                <a:ea typeface="Segoe UI Bold"/>
                <a:cs typeface="Segoe UI Bold"/>
                <a:sym typeface="Segoe UI Bold"/>
              </a:rPr>
              <a:t>GPT-2 PPL</a:t>
            </a:r>
          </a:p>
        </p:txBody>
      </p:sp>
      <p:sp>
        <p:nvSpPr>
          <p:cNvPr name="TextBox 12" id="12"/>
          <p:cNvSpPr txBox="true"/>
          <p:nvPr/>
        </p:nvSpPr>
        <p:spPr>
          <a:xfrm rot="0">
            <a:off x="1052312" y="3910213"/>
            <a:ext cx="3523336" cy="779793"/>
          </a:xfrm>
          <a:prstGeom prst="rect">
            <a:avLst/>
          </a:prstGeom>
        </p:spPr>
        <p:txBody>
          <a:bodyPr anchor="t" rtlCol="false" tIns="0" lIns="0" bIns="0" rIns="0">
            <a:spAutoFit/>
          </a:bodyPr>
          <a:lstStyle/>
          <a:p>
            <a:pPr algn="ctr">
              <a:lnSpc>
                <a:spcPts val="2269"/>
              </a:lnSpc>
            </a:pPr>
            <a:r>
              <a:rPr lang="en-US" sz="1801">
                <a:solidFill>
                  <a:srgbClr val="8B949E"/>
                </a:solidFill>
                <a:latin typeface="Consolas"/>
                <a:ea typeface="Consolas"/>
                <a:cs typeface="Consolas"/>
                <a:sym typeface="Consolas"/>
              </a:rPr>
              <a:t>ceiling ~50,257</a:t>
            </a:r>
          </a:p>
        </p:txBody>
      </p:sp>
      <p:grpSp>
        <p:nvGrpSpPr>
          <p:cNvPr name="Group 13" id="13"/>
          <p:cNvGrpSpPr/>
          <p:nvPr/>
        </p:nvGrpSpPr>
        <p:grpSpPr>
          <a:xfrm rot="0">
            <a:off x="5069357" y="1912210"/>
            <a:ext cx="4137079" cy="3244844"/>
            <a:chOff x="0" y="0"/>
            <a:chExt cx="5516105" cy="4326458"/>
          </a:xfrm>
        </p:grpSpPr>
        <p:sp>
          <p:nvSpPr>
            <p:cNvPr name="Freeform 14" id="14"/>
            <p:cNvSpPr/>
            <p:nvPr/>
          </p:nvSpPr>
          <p:spPr>
            <a:xfrm flipH="false" flipV="false" rot="0">
              <a:off x="0" y="0"/>
              <a:ext cx="5516118" cy="4326509"/>
            </a:xfrm>
            <a:custGeom>
              <a:avLst/>
              <a:gdLst/>
              <a:ahLst/>
              <a:cxnLst/>
              <a:rect r="r" b="b" t="t" l="l"/>
              <a:pathLst>
                <a:path h="4326509" w="5516118">
                  <a:moveTo>
                    <a:pt x="0" y="259588"/>
                  </a:moveTo>
                  <a:cubicBezTo>
                    <a:pt x="0" y="116205"/>
                    <a:pt x="116205" y="0"/>
                    <a:pt x="259588" y="0"/>
                  </a:cubicBezTo>
                  <a:lnTo>
                    <a:pt x="5256530" y="0"/>
                  </a:lnTo>
                  <a:cubicBezTo>
                    <a:pt x="5399913" y="0"/>
                    <a:pt x="5516118" y="116205"/>
                    <a:pt x="5516118" y="259588"/>
                  </a:cubicBezTo>
                  <a:lnTo>
                    <a:pt x="5516118" y="4066921"/>
                  </a:lnTo>
                  <a:cubicBezTo>
                    <a:pt x="5516118" y="4210304"/>
                    <a:pt x="5399913" y="4326509"/>
                    <a:pt x="5256530"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15" id="15"/>
          <p:cNvSpPr txBox="true"/>
          <p:nvPr/>
        </p:nvSpPr>
        <p:spPr>
          <a:xfrm rot="0">
            <a:off x="5376224" y="2059067"/>
            <a:ext cx="3523336" cy="1189634"/>
          </a:xfrm>
          <a:prstGeom prst="rect">
            <a:avLst/>
          </a:prstGeom>
        </p:spPr>
        <p:txBody>
          <a:bodyPr anchor="t" rtlCol="false" tIns="0" lIns="0" bIns="0" rIns="0">
            <a:spAutoFit/>
          </a:bodyPr>
          <a:lstStyle/>
          <a:p>
            <a:pPr algn="ctr">
              <a:lnSpc>
                <a:spcPts val="6052"/>
              </a:lnSpc>
            </a:pPr>
            <a:r>
              <a:rPr lang="en-US" sz="4803" b="true">
                <a:solidFill>
                  <a:srgbClr val="58A6FF"/>
                </a:solidFill>
                <a:latin typeface="Consolas Bold"/>
                <a:ea typeface="Consolas Bold"/>
                <a:cs typeface="Consolas Bold"/>
                <a:sym typeface="Consolas Bold"/>
              </a:rPr>
              <a:t>13.28</a:t>
            </a:r>
          </a:p>
        </p:txBody>
      </p:sp>
      <p:sp>
        <p:nvSpPr>
          <p:cNvPr name="TextBox 16" id="16"/>
          <p:cNvSpPr txBox="true"/>
          <p:nvPr/>
        </p:nvSpPr>
        <p:spPr>
          <a:xfrm rot="0">
            <a:off x="5376224" y="3330607"/>
            <a:ext cx="3523336" cy="467154"/>
          </a:xfrm>
          <a:prstGeom prst="rect">
            <a:avLst/>
          </a:prstGeom>
        </p:spPr>
        <p:txBody>
          <a:bodyPr anchor="t" rtlCol="false" tIns="0" lIns="0" bIns="0" rIns="0">
            <a:spAutoFit/>
          </a:bodyPr>
          <a:lstStyle/>
          <a:p>
            <a:pPr algn="ctr">
              <a:lnSpc>
                <a:spcPts val="2648"/>
              </a:lnSpc>
            </a:pPr>
            <a:r>
              <a:rPr lang="en-US" sz="2101" b="true">
                <a:solidFill>
                  <a:srgbClr val="FFFFFF"/>
                </a:solidFill>
                <a:latin typeface="Segoe UI Bold"/>
                <a:ea typeface="Segoe UI Bold"/>
                <a:cs typeface="Segoe UI Bold"/>
                <a:sym typeface="Segoe UI Bold"/>
              </a:rPr>
              <a:t>TinyLlama PPL</a:t>
            </a:r>
          </a:p>
        </p:txBody>
      </p:sp>
      <p:sp>
        <p:nvSpPr>
          <p:cNvPr name="TextBox 17" id="17"/>
          <p:cNvSpPr txBox="true"/>
          <p:nvPr/>
        </p:nvSpPr>
        <p:spPr>
          <a:xfrm rot="0">
            <a:off x="5376224" y="3910213"/>
            <a:ext cx="3523336" cy="779793"/>
          </a:xfrm>
          <a:prstGeom prst="rect">
            <a:avLst/>
          </a:prstGeom>
        </p:spPr>
        <p:txBody>
          <a:bodyPr anchor="t" rtlCol="false" tIns="0" lIns="0" bIns="0" rIns="0">
            <a:spAutoFit/>
          </a:bodyPr>
          <a:lstStyle/>
          <a:p>
            <a:pPr algn="ctr">
              <a:lnSpc>
                <a:spcPts val="2269"/>
              </a:lnSpc>
            </a:pPr>
            <a:r>
              <a:rPr lang="en-US" sz="1801">
                <a:solidFill>
                  <a:srgbClr val="8B949E"/>
                </a:solidFill>
                <a:latin typeface="Consolas"/>
                <a:ea typeface="Consolas"/>
                <a:cs typeface="Consolas"/>
                <a:sym typeface="Consolas"/>
              </a:rPr>
              <a:t>ceiling ~32,000</a:t>
            </a:r>
          </a:p>
        </p:txBody>
      </p:sp>
      <p:grpSp>
        <p:nvGrpSpPr>
          <p:cNvPr name="Group 18" id="18"/>
          <p:cNvGrpSpPr/>
          <p:nvPr/>
        </p:nvGrpSpPr>
        <p:grpSpPr>
          <a:xfrm rot="0">
            <a:off x="9393269" y="1912210"/>
            <a:ext cx="4137079" cy="3244844"/>
            <a:chOff x="0" y="0"/>
            <a:chExt cx="5516105" cy="4326458"/>
          </a:xfrm>
        </p:grpSpPr>
        <p:sp>
          <p:nvSpPr>
            <p:cNvPr name="Freeform 19" id="19"/>
            <p:cNvSpPr/>
            <p:nvPr/>
          </p:nvSpPr>
          <p:spPr>
            <a:xfrm flipH="false" flipV="false" rot="0">
              <a:off x="0" y="0"/>
              <a:ext cx="5516118" cy="4326509"/>
            </a:xfrm>
            <a:custGeom>
              <a:avLst/>
              <a:gdLst/>
              <a:ahLst/>
              <a:cxnLst/>
              <a:rect r="r" b="b" t="t" l="l"/>
              <a:pathLst>
                <a:path h="4326509" w="5516118">
                  <a:moveTo>
                    <a:pt x="0" y="259588"/>
                  </a:moveTo>
                  <a:cubicBezTo>
                    <a:pt x="0" y="116205"/>
                    <a:pt x="116205" y="0"/>
                    <a:pt x="259588" y="0"/>
                  </a:cubicBezTo>
                  <a:lnTo>
                    <a:pt x="5256530" y="0"/>
                  </a:lnTo>
                  <a:cubicBezTo>
                    <a:pt x="5399913" y="0"/>
                    <a:pt x="5516118" y="116205"/>
                    <a:pt x="5516118" y="259588"/>
                  </a:cubicBezTo>
                  <a:lnTo>
                    <a:pt x="5516118" y="4066921"/>
                  </a:lnTo>
                  <a:cubicBezTo>
                    <a:pt x="5516118" y="4210304"/>
                    <a:pt x="5399913" y="4326509"/>
                    <a:pt x="5256530"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20" id="20"/>
          <p:cNvSpPr txBox="true"/>
          <p:nvPr/>
        </p:nvSpPr>
        <p:spPr>
          <a:xfrm rot="0">
            <a:off x="9700146" y="2059067"/>
            <a:ext cx="3523336" cy="1189634"/>
          </a:xfrm>
          <a:prstGeom prst="rect">
            <a:avLst/>
          </a:prstGeom>
        </p:spPr>
        <p:txBody>
          <a:bodyPr anchor="t" rtlCol="false" tIns="0" lIns="0" bIns="0" rIns="0">
            <a:spAutoFit/>
          </a:bodyPr>
          <a:lstStyle/>
          <a:p>
            <a:pPr algn="ctr">
              <a:lnSpc>
                <a:spcPts val="6052"/>
              </a:lnSpc>
            </a:pPr>
            <a:r>
              <a:rPr lang="en-US" sz="4803" b="true">
                <a:solidFill>
                  <a:srgbClr val="3FB950"/>
                </a:solidFill>
                <a:latin typeface="Consolas Bold"/>
                <a:ea typeface="Consolas Bold"/>
                <a:cs typeface="Consolas Bold"/>
                <a:sym typeface="Consolas Bold"/>
              </a:rPr>
              <a:t>10.84</a:t>
            </a:r>
          </a:p>
        </p:txBody>
      </p:sp>
      <p:sp>
        <p:nvSpPr>
          <p:cNvPr name="TextBox 21" id="21"/>
          <p:cNvSpPr txBox="true"/>
          <p:nvPr/>
        </p:nvSpPr>
        <p:spPr>
          <a:xfrm rot="0">
            <a:off x="9700146" y="3330607"/>
            <a:ext cx="3523336" cy="467154"/>
          </a:xfrm>
          <a:prstGeom prst="rect">
            <a:avLst/>
          </a:prstGeom>
        </p:spPr>
        <p:txBody>
          <a:bodyPr anchor="t" rtlCol="false" tIns="0" lIns="0" bIns="0" rIns="0">
            <a:spAutoFit/>
          </a:bodyPr>
          <a:lstStyle/>
          <a:p>
            <a:pPr algn="ctr">
              <a:lnSpc>
                <a:spcPts val="2648"/>
              </a:lnSpc>
            </a:pPr>
            <a:r>
              <a:rPr lang="en-US" sz="2101" b="true">
                <a:solidFill>
                  <a:srgbClr val="FFFFFF"/>
                </a:solidFill>
                <a:latin typeface="Segoe UI Bold"/>
                <a:ea typeface="Segoe UI Bold"/>
                <a:cs typeface="Segoe UI Bold"/>
                <a:sym typeface="Segoe UI Bold"/>
              </a:rPr>
              <a:t>Qwen2.5 PPL</a:t>
            </a:r>
          </a:p>
        </p:txBody>
      </p:sp>
      <p:sp>
        <p:nvSpPr>
          <p:cNvPr name="TextBox 22" id="22"/>
          <p:cNvSpPr txBox="true"/>
          <p:nvPr/>
        </p:nvSpPr>
        <p:spPr>
          <a:xfrm rot="0">
            <a:off x="9700146" y="3910213"/>
            <a:ext cx="3523336" cy="779793"/>
          </a:xfrm>
          <a:prstGeom prst="rect">
            <a:avLst/>
          </a:prstGeom>
        </p:spPr>
        <p:txBody>
          <a:bodyPr anchor="t" rtlCol="false" tIns="0" lIns="0" bIns="0" rIns="0">
            <a:spAutoFit/>
          </a:bodyPr>
          <a:lstStyle/>
          <a:p>
            <a:pPr algn="ctr">
              <a:lnSpc>
                <a:spcPts val="2269"/>
              </a:lnSpc>
            </a:pPr>
            <a:r>
              <a:rPr lang="en-US" sz="1801">
                <a:solidFill>
                  <a:srgbClr val="8B949E"/>
                </a:solidFill>
                <a:latin typeface="Consolas"/>
                <a:ea typeface="Consolas"/>
                <a:cs typeface="Consolas"/>
                <a:sym typeface="Consolas"/>
              </a:rPr>
              <a:t>ceiling ~151,936</a:t>
            </a:r>
          </a:p>
        </p:txBody>
      </p:sp>
      <p:grpSp>
        <p:nvGrpSpPr>
          <p:cNvPr name="Group 23" id="23"/>
          <p:cNvGrpSpPr/>
          <p:nvPr/>
        </p:nvGrpSpPr>
        <p:grpSpPr>
          <a:xfrm rot="0">
            <a:off x="13717191" y="1912210"/>
            <a:ext cx="4137079" cy="3244844"/>
            <a:chOff x="0" y="0"/>
            <a:chExt cx="5516105" cy="4326458"/>
          </a:xfrm>
        </p:grpSpPr>
        <p:sp>
          <p:nvSpPr>
            <p:cNvPr name="Freeform 24" id="24"/>
            <p:cNvSpPr/>
            <p:nvPr/>
          </p:nvSpPr>
          <p:spPr>
            <a:xfrm flipH="false" flipV="false" rot="0">
              <a:off x="0" y="0"/>
              <a:ext cx="5516118" cy="4326509"/>
            </a:xfrm>
            <a:custGeom>
              <a:avLst/>
              <a:gdLst/>
              <a:ahLst/>
              <a:cxnLst/>
              <a:rect r="r" b="b" t="t" l="l"/>
              <a:pathLst>
                <a:path h="4326509" w="5516118">
                  <a:moveTo>
                    <a:pt x="0" y="259588"/>
                  </a:moveTo>
                  <a:cubicBezTo>
                    <a:pt x="0" y="116205"/>
                    <a:pt x="116205" y="0"/>
                    <a:pt x="259588" y="0"/>
                  </a:cubicBezTo>
                  <a:lnTo>
                    <a:pt x="5256530" y="0"/>
                  </a:lnTo>
                  <a:cubicBezTo>
                    <a:pt x="5399913" y="0"/>
                    <a:pt x="5516118" y="116205"/>
                    <a:pt x="5516118" y="259588"/>
                  </a:cubicBezTo>
                  <a:lnTo>
                    <a:pt x="5516118" y="4066921"/>
                  </a:lnTo>
                  <a:cubicBezTo>
                    <a:pt x="5516118" y="4210304"/>
                    <a:pt x="5399913" y="4326509"/>
                    <a:pt x="5256530"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25" id="25"/>
          <p:cNvSpPr txBox="true"/>
          <p:nvPr/>
        </p:nvSpPr>
        <p:spPr>
          <a:xfrm rot="0">
            <a:off x="14024067" y="2059067"/>
            <a:ext cx="3523336" cy="1189634"/>
          </a:xfrm>
          <a:prstGeom prst="rect">
            <a:avLst/>
          </a:prstGeom>
        </p:spPr>
        <p:txBody>
          <a:bodyPr anchor="t" rtlCol="false" tIns="0" lIns="0" bIns="0" rIns="0">
            <a:spAutoFit/>
          </a:bodyPr>
          <a:lstStyle/>
          <a:p>
            <a:pPr algn="ctr">
              <a:lnSpc>
                <a:spcPts val="6052"/>
              </a:lnSpc>
            </a:pPr>
            <a:r>
              <a:rPr lang="en-US" sz="4803" b="true">
                <a:solidFill>
                  <a:srgbClr val="D29922"/>
                </a:solidFill>
                <a:latin typeface="Consolas Bold"/>
                <a:ea typeface="Consolas Bold"/>
                <a:cs typeface="Consolas Bold"/>
                <a:sym typeface="Consolas Bold"/>
              </a:rPr>
              <a:t>73.05</a:t>
            </a:r>
          </a:p>
        </p:txBody>
      </p:sp>
      <p:sp>
        <p:nvSpPr>
          <p:cNvPr name="TextBox 26" id="26"/>
          <p:cNvSpPr txBox="true"/>
          <p:nvPr/>
        </p:nvSpPr>
        <p:spPr>
          <a:xfrm rot="0">
            <a:off x="14024067" y="3330607"/>
            <a:ext cx="3523336" cy="467154"/>
          </a:xfrm>
          <a:prstGeom prst="rect">
            <a:avLst/>
          </a:prstGeom>
        </p:spPr>
        <p:txBody>
          <a:bodyPr anchor="t" rtlCol="false" tIns="0" lIns="0" bIns="0" rIns="0">
            <a:spAutoFit/>
          </a:bodyPr>
          <a:lstStyle/>
          <a:p>
            <a:pPr algn="ctr">
              <a:lnSpc>
                <a:spcPts val="2648"/>
              </a:lnSpc>
            </a:pPr>
            <a:r>
              <a:rPr lang="en-US" sz="2101" b="true">
                <a:solidFill>
                  <a:srgbClr val="FFFFFF"/>
                </a:solidFill>
                <a:latin typeface="Segoe UI Bold"/>
                <a:ea typeface="Segoe UI Bold"/>
                <a:cs typeface="Segoe UI Bold"/>
                <a:sym typeface="Segoe UI Bold"/>
              </a:rPr>
              <a:t>Gemma-2b PPL</a:t>
            </a:r>
          </a:p>
        </p:txBody>
      </p:sp>
      <p:sp>
        <p:nvSpPr>
          <p:cNvPr name="TextBox 27" id="27"/>
          <p:cNvSpPr txBox="true"/>
          <p:nvPr/>
        </p:nvSpPr>
        <p:spPr>
          <a:xfrm rot="0">
            <a:off x="14024067" y="3910213"/>
            <a:ext cx="3523336" cy="779793"/>
          </a:xfrm>
          <a:prstGeom prst="rect">
            <a:avLst/>
          </a:prstGeom>
        </p:spPr>
        <p:txBody>
          <a:bodyPr anchor="t" rtlCol="false" tIns="0" lIns="0" bIns="0" rIns="0">
            <a:spAutoFit/>
          </a:bodyPr>
          <a:lstStyle/>
          <a:p>
            <a:pPr algn="ctr">
              <a:lnSpc>
                <a:spcPts val="2269"/>
              </a:lnSpc>
            </a:pPr>
            <a:r>
              <a:rPr lang="en-US" sz="1801">
                <a:solidFill>
                  <a:srgbClr val="8B949E"/>
                </a:solidFill>
                <a:latin typeface="Consolas"/>
                <a:ea typeface="Consolas"/>
                <a:cs typeface="Consolas"/>
                <a:sym typeface="Consolas"/>
              </a:rPr>
              <a:t>ceiling ~256,128</a:t>
            </a:r>
          </a:p>
        </p:txBody>
      </p:sp>
      <p:grpSp>
        <p:nvGrpSpPr>
          <p:cNvPr name="Group 28" id="28"/>
          <p:cNvGrpSpPr/>
          <p:nvPr/>
        </p:nvGrpSpPr>
        <p:grpSpPr>
          <a:xfrm rot="0">
            <a:off x="745436" y="5481161"/>
            <a:ext cx="16834304" cy="3862549"/>
            <a:chOff x="0" y="0"/>
            <a:chExt cx="22445739" cy="5150066"/>
          </a:xfrm>
        </p:grpSpPr>
        <p:sp>
          <p:nvSpPr>
            <p:cNvPr name="Freeform 29" id="29"/>
            <p:cNvSpPr/>
            <p:nvPr/>
          </p:nvSpPr>
          <p:spPr>
            <a:xfrm flipH="false" flipV="false" rot="0">
              <a:off x="0" y="0"/>
              <a:ext cx="22445726" cy="5150104"/>
            </a:xfrm>
            <a:custGeom>
              <a:avLst/>
              <a:gdLst/>
              <a:ahLst/>
              <a:cxnLst/>
              <a:rect r="r" b="b" t="t" l="l"/>
              <a:pathLst>
                <a:path h="5150104" w="22445726">
                  <a:moveTo>
                    <a:pt x="0" y="308991"/>
                  </a:moveTo>
                  <a:cubicBezTo>
                    <a:pt x="0" y="138303"/>
                    <a:pt x="138303" y="0"/>
                    <a:pt x="308991" y="0"/>
                  </a:cubicBezTo>
                  <a:lnTo>
                    <a:pt x="22136736" y="0"/>
                  </a:lnTo>
                  <a:cubicBezTo>
                    <a:pt x="22307423" y="0"/>
                    <a:pt x="22445726" y="138303"/>
                    <a:pt x="22445726" y="308991"/>
                  </a:cubicBezTo>
                  <a:lnTo>
                    <a:pt x="22445726" y="4841113"/>
                  </a:lnTo>
                  <a:cubicBezTo>
                    <a:pt x="22445726" y="5011801"/>
                    <a:pt x="22307423" y="5150104"/>
                    <a:pt x="22136736" y="5150104"/>
                  </a:cubicBezTo>
                  <a:lnTo>
                    <a:pt x="308991" y="5150104"/>
                  </a:lnTo>
                  <a:cubicBezTo>
                    <a:pt x="138303" y="5150104"/>
                    <a:pt x="0" y="5011674"/>
                    <a:pt x="0" y="4841113"/>
                  </a:cubicBezTo>
                  <a:close/>
                </a:path>
              </a:pathLst>
            </a:custGeom>
            <a:solidFill>
              <a:srgbClr val="1A202A"/>
            </a:solidFill>
            <a:ln w="19065" cap="sq">
              <a:solidFill>
                <a:srgbClr val="2A323E"/>
              </a:solidFill>
              <a:prstDash val="solid"/>
              <a:miter/>
            </a:ln>
          </p:spPr>
        </p:sp>
      </p:grpSp>
      <p:sp>
        <p:nvSpPr>
          <p:cNvPr name="TextBox 30" id="30"/>
          <p:cNvSpPr txBox="true"/>
          <p:nvPr/>
        </p:nvSpPr>
        <p:spPr>
          <a:xfrm rot="0">
            <a:off x="1189577" y="5773960"/>
            <a:ext cx="16014659" cy="398516"/>
          </a:xfrm>
          <a:prstGeom prst="rect">
            <a:avLst/>
          </a:prstGeom>
        </p:spPr>
        <p:txBody>
          <a:bodyPr anchor="t" rtlCol="false" tIns="0" lIns="0" bIns="0" rIns="0">
            <a:spAutoFit/>
          </a:bodyPr>
          <a:lstStyle/>
          <a:p>
            <a:pPr algn="l">
              <a:lnSpc>
                <a:spcPts val="2648"/>
              </a:lnSpc>
            </a:pPr>
            <a:r>
              <a:rPr lang="en-US" sz="2101" b="true">
                <a:solidFill>
                  <a:srgbClr val="3FB950"/>
                </a:solidFill>
                <a:latin typeface="Segoe UI Bold"/>
                <a:ea typeface="Segoe UI Bold"/>
                <a:cs typeface="Segoe UI Bold"/>
                <a:sym typeface="Segoe UI Bold"/>
              </a:rPr>
              <a:t>How the number is made</a:t>
            </a:r>
          </a:p>
        </p:txBody>
      </p:sp>
      <p:sp>
        <p:nvSpPr>
          <p:cNvPr name="TextBox 31" id="31"/>
          <p:cNvSpPr txBox="true"/>
          <p:nvPr/>
        </p:nvSpPr>
        <p:spPr>
          <a:xfrm rot="0">
            <a:off x="1189577" y="6350489"/>
            <a:ext cx="16014659" cy="2663428"/>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Teacher forcing: at every position, measure the probability the real logits assign to the actual next token. Never sampling. A uniform-random guess over a vocab has perplexity equal to the vocab size. 20.58 vs ~50,257 is the claim that the forward pass is doing language modeling, not emitting token-shaped noise.</a:t>
            </a:r>
          </a:p>
          <a:p>
            <a:pPr algn="l">
              <a:lnSpc>
                <a:spcPts val="2648"/>
              </a:lnSpc>
            </a:pPr>
          </a:p>
          <a:p>
            <a:pPr algn="l">
              <a:lnSpc>
                <a:spcPts val="2648"/>
              </a:lnSpc>
            </a:pPr>
            <a:r>
              <a:rPr lang="en-US" sz="2101">
                <a:solidFill>
                  <a:srgbClr val="ECF1F5"/>
                </a:solidFill>
                <a:latin typeface="Segoe UI"/>
                <a:ea typeface="Segoe UI"/>
                <a:cs typeface="Segoe UI"/>
                <a:sym typeface="Segoe UI"/>
              </a:rPr>
              <a:t>No reference llama.cpp was linked to diff against — staying zero-dep. So this is a self-contained check, plus known-fact completions (Qwen 3/3, Gemma 2/3, TinyLlama 1/3, GPT-2 0/3). A 124M model missing “Paris” is a capability limit, not papered over as a pass.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10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THE NUMBER THAT BEATS REAL LLAMA.CPP</a:t>
            </a:r>
          </a:p>
        </p:txBody>
      </p:sp>
      <p:sp>
        <p:nvSpPr>
          <p:cNvPr name="TextBox 7" id="7"/>
          <p:cNvSpPr txBox="true"/>
          <p:nvPr/>
        </p:nvSpPr>
        <p:spPr>
          <a:xfrm rot="0">
            <a:off x="846411" y="772116"/>
            <a:ext cx="16563727"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Less memory. Same machine. Unmodified upstream.</a:t>
            </a:r>
          </a:p>
        </p:txBody>
      </p:sp>
      <p:graphicFrame>
        <p:nvGraphicFramePr>
          <p:cNvPr name="Table 8" id="8"/>
          <p:cNvGraphicFramePr>
            <a:graphicFrameLocks noGrp="true"/>
          </p:cNvGraphicFramePr>
          <p:nvPr/>
        </p:nvGraphicFramePr>
        <p:xfrm>
          <a:off x="754970" y="1921741"/>
          <a:ext cx="16777107" cy="4289601"/>
        </p:xfrm>
        <a:graphic>
          <a:graphicData uri="http://schemas.openxmlformats.org/drawingml/2006/table">
            <a:tbl>
              <a:tblPr/>
              <a:tblGrid>
                <a:gridCol w="4518079"/>
                <a:gridCol w="3700053"/>
                <a:gridCol w="3972728"/>
                <a:gridCol w="4586248"/>
              </a:tblGrid>
              <a:tr h="857920">
                <a:tc>
                  <a:txBody>
                    <a:bodyPr anchor="t" rtlCol="false"/>
                    <a:lstStyle/>
                    <a:p>
                      <a:pPr algn="l">
                        <a:lnSpc>
                          <a:spcPts val="2161"/>
                        </a:lnSpc>
                        <a:defRPr/>
                      </a:pPr>
                      <a:r>
                        <a:rPr lang="en-US" sz="1801" b="true">
                          <a:solidFill>
                            <a:srgbClr val="FFFFFF"/>
                          </a:solidFill>
                          <a:latin typeface="Segoe UI Bold"/>
                          <a:ea typeface="Segoe UI Bold"/>
                          <a:cs typeface="Segoe UI Bold"/>
                          <a:sym typeface="Segoe UI Bold"/>
                        </a:rPr>
                        <a:t>Model</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llamini RSS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ctr">
                        <a:lnSpc>
                          <a:spcPts val="2161"/>
                        </a:lnSpc>
                        <a:defRPr/>
                      </a:pPr>
                      <a:r>
                        <a:rPr lang="en-US" sz="1801" b="true">
                          <a:solidFill>
                            <a:srgbClr val="FFFFFF"/>
                          </a:solidFill>
                          <a:latin typeface="Consolas Bold"/>
                          <a:ea typeface="Consolas Bold"/>
                          <a:cs typeface="Consolas Bold"/>
                          <a:sym typeface="Consolas Bold"/>
                        </a:rPr>
                        <a:t>llama.cpp RSS</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c>
                  <a:txBody>
                    <a:bodyPr anchor="t" rtlCol="false"/>
                    <a:lstStyle/>
                    <a:p>
                      <a:pPr algn="l">
                        <a:lnSpc>
                          <a:spcPts val="2161"/>
                        </a:lnSpc>
                        <a:defRPr/>
                      </a:pPr>
                      <a:r>
                        <a:rPr lang="en-US" sz="1801" b="true">
                          <a:solidFill>
                            <a:srgbClr val="FFFFFF"/>
                          </a:solidFill>
                          <a:latin typeface="Segoe UI Bold"/>
                          <a:ea typeface="Segoe UI Bold"/>
                          <a:cs typeface="Segoe UI Bold"/>
                          <a:sym typeface="Segoe UI Bold"/>
                        </a:rPr>
                        <a:t>Winner</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3A22"/>
                    </a:solidFill>
                  </a:tcPr>
                </a:tc>
              </a:tr>
              <a:tr h="857920">
                <a:tc>
                  <a:txBody>
                    <a:bodyPr anchor="t" rtlCol="false"/>
                    <a:lstStyle/>
                    <a:p>
                      <a:pPr algn="l">
                        <a:lnSpc>
                          <a:spcPts val="2521"/>
                        </a:lnSpc>
                        <a:defRPr/>
                      </a:pPr>
                      <a:r>
                        <a:rPr lang="en-US" sz="2101" b="true">
                          <a:solidFill>
                            <a:srgbClr val="ECF1F5"/>
                          </a:solidFill>
                          <a:latin typeface="Segoe UI Bold"/>
                          <a:ea typeface="Segoe UI Bold"/>
                          <a:cs typeface="Segoe UI Bold"/>
                          <a:sym typeface="Segoe UI Bold"/>
                        </a:rPr>
                        <a:t>TinyLlama-1.1B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~710 MB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~1.12 GB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521"/>
                        </a:lnSpc>
                        <a:defRPr/>
                      </a:pPr>
                      <a:r>
                        <a:rPr lang="en-US" sz="2101">
                          <a:solidFill>
                            <a:srgbClr val="3FB950"/>
                          </a:solidFill>
                          <a:latin typeface="Segoe UI"/>
                          <a:ea typeface="Segoe UI"/>
                          <a:cs typeface="Segoe UI"/>
                          <a:sym typeface="Segoe UI"/>
                        </a:rPr>
                        <a:t>llamini</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857920">
                <a:tc>
                  <a:txBody>
                    <a:bodyPr anchor="t" rtlCol="false"/>
                    <a:lstStyle/>
                    <a:p>
                      <a:pPr algn="l">
                        <a:lnSpc>
                          <a:spcPts val="2521"/>
                        </a:lnSpc>
                        <a:defRPr/>
                      </a:pPr>
                      <a:r>
                        <a:rPr lang="en-US" sz="2101" b="true">
                          <a:solidFill>
                            <a:srgbClr val="ECF1F5"/>
                          </a:solidFill>
                          <a:latin typeface="Segoe UI Bold"/>
                          <a:ea typeface="Segoe UI Bold"/>
                          <a:cs typeface="Segoe UI Bold"/>
                          <a:sym typeface="Segoe UI Bold"/>
                        </a:rPr>
                        <a:t>Qwen2.5-0.5B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~480 MB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~558 MB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l">
                        <a:lnSpc>
                          <a:spcPts val="2521"/>
                        </a:lnSpc>
                        <a:defRPr/>
                      </a:pPr>
                      <a:r>
                        <a:rPr lang="en-US" sz="2101">
                          <a:solidFill>
                            <a:srgbClr val="3FB950"/>
                          </a:solidFill>
                          <a:latin typeface="Segoe UI"/>
                          <a:ea typeface="Segoe UI"/>
                          <a:cs typeface="Segoe UI"/>
                          <a:sym typeface="Segoe UI"/>
                        </a:rPr>
                        <a:t>llamini</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r h="857920">
                <a:tc>
                  <a:txBody>
                    <a:bodyPr anchor="t" rtlCol="false"/>
                    <a:lstStyle/>
                    <a:p>
                      <a:pPr algn="l">
                        <a:lnSpc>
                          <a:spcPts val="2521"/>
                        </a:lnSpc>
                        <a:defRPr/>
                      </a:pPr>
                      <a:r>
                        <a:rPr lang="en-US" sz="2101" b="true">
                          <a:solidFill>
                            <a:srgbClr val="ECF1F5"/>
                          </a:solidFill>
                          <a:latin typeface="Segoe UI Bold"/>
                          <a:ea typeface="Segoe UI Bold"/>
                          <a:cs typeface="Segoe UI Bold"/>
                          <a:sym typeface="Segoe UI Bold"/>
                        </a:rPr>
                        <a:t>Gemma-2b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~1.54 GB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~2.66 GB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c>
                  <a:txBody>
                    <a:bodyPr anchor="t" rtlCol="false"/>
                    <a:lstStyle/>
                    <a:p>
                      <a:pPr algn="l">
                        <a:lnSpc>
                          <a:spcPts val="2521"/>
                        </a:lnSpc>
                        <a:defRPr/>
                      </a:pPr>
                      <a:r>
                        <a:rPr lang="en-US" sz="2101">
                          <a:solidFill>
                            <a:srgbClr val="3FB950"/>
                          </a:solidFill>
                          <a:latin typeface="Segoe UI"/>
                          <a:ea typeface="Segoe UI"/>
                          <a:cs typeface="Segoe UI"/>
                          <a:sym typeface="Segoe UI"/>
                        </a:rPr>
                        <a:t>llamini</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A202A"/>
                    </a:solidFill>
                  </a:tcPr>
                </a:tc>
              </a:tr>
              <a:tr h="857920">
                <a:tc>
                  <a:txBody>
                    <a:bodyPr anchor="t" rtlCol="false"/>
                    <a:lstStyle/>
                    <a:p>
                      <a:pPr algn="l">
                        <a:lnSpc>
                          <a:spcPts val="2521"/>
                        </a:lnSpc>
                        <a:defRPr/>
                      </a:pPr>
                      <a:r>
                        <a:rPr lang="en-US" sz="2101" b="true">
                          <a:solidFill>
                            <a:srgbClr val="ECF1F5"/>
                          </a:solidFill>
                          <a:latin typeface="Segoe UI Bold"/>
                          <a:ea typeface="Segoe UI Bold"/>
                          <a:cs typeface="Segoe UI Bold"/>
                          <a:sym typeface="Segoe UI Bold"/>
                        </a:rPr>
                        <a:t>GPT-2-124M</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~831 MB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ctr">
                        <a:lnSpc>
                          <a:spcPts val="2521"/>
                        </a:lnSpc>
                        <a:defRPr/>
                      </a:pPr>
                      <a:r>
                        <a:rPr lang="en-US" sz="2101">
                          <a:solidFill>
                            <a:srgbClr val="ECF1F5"/>
                          </a:solidFill>
                          <a:latin typeface="Consolas"/>
                          <a:ea typeface="Consolas"/>
                          <a:cs typeface="Consolas"/>
                          <a:sym typeface="Consolas"/>
                        </a:rPr>
                        <a:t>~169 MB</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c>
                  <a:txBody>
                    <a:bodyPr anchor="t" rtlCol="false"/>
                    <a:lstStyle/>
                    <a:p>
                      <a:pPr algn="l">
                        <a:lnSpc>
                          <a:spcPts val="2521"/>
                        </a:lnSpc>
                        <a:defRPr/>
                      </a:pPr>
                      <a:r>
                        <a:rPr lang="en-US" sz="2101">
                          <a:solidFill>
                            <a:srgbClr val="D29922"/>
                          </a:solidFill>
                          <a:latin typeface="Segoe UI"/>
                          <a:ea typeface="Segoe UI"/>
                          <a:cs typeface="Segoe UI"/>
                          <a:sym typeface="Segoe UI"/>
                        </a:rPr>
                        <a:t>llama.cpp  (disclosed)</a:t>
                      </a:r>
                      <a:endParaRPr lang="en-US" sz="1100"/>
                    </a:p>
                  </a:txBody>
                  <a:tcPr marL="82296" marR="82296" marT="82296" marB="82296" anchor="t">
                    <a:lnL cmpd="sng" algn="ctr" cap="flat" w="6350">
                      <a:solidFill>
                        <a:srgbClr val="2A323E"/>
                      </a:solidFill>
                      <a:prstDash val="solid"/>
                      <a:round/>
                      <a:headEnd type="none" w="med" len="med"/>
                      <a:tailEnd type="none" w="med" len="med"/>
                    </a:lnL>
                    <a:lnR cmpd="sng" algn="ctr" cap="flat" w="6350">
                      <a:solidFill>
                        <a:srgbClr val="2A323E"/>
                      </a:solidFill>
                      <a:prstDash val="solid"/>
                      <a:round/>
                      <a:headEnd type="none" w="med" len="med"/>
                      <a:tailEnd type="none" w="med" len="med"/>
                    </a:lnR>
                    <a:lnT cmpd="sng" algn="ctr" cap="flat" w="6350">
                      <a:solidFill>
                        <a:srgbClr val="2A323E"/>
                      </a:solidFill>
                      <a:prstDash val="solid"/>
                      <a:round/>
                      <a:headEnd type="none" w="med" len="med"/>
                      <a:tailEnd type="none" w="med" len="med"/>
                    </a:lnT>
                    <a:lnB cmpd="sng" algn="ctr" cap="flat" w="6350">
                      <a:solidFill>
                        <a:srgbClr val="2A323E"/>
                      </a:solidFill>
                      <a:prstDash val="solid"/>
                      <a:round/>
                      <a:headEnd type="none" w="med" len="med"/>
                      <a:tailEnd type="none" w="med" len="med"/>
                    </a:lnB>
                    <a:solidFill>
                      <a:srgbClr val="141820"/>
                    </a:solidFill>
                  </a:tcPr>
                </a:tc>
              </a:tr>
            </a:tbl>
          </a:graphicData>
        </a:graphic>
      </p:graphicFrame>
      <p:sp>
        <p:nvSpPr>
          <p:cNvPr name="TextBox 9" id="9"/>
          <p:cNvSpPr txBox="true"/>
          <p:nvPr/>
        </p:nvSpPr>
        <p:spPr>
          <a:xfrm rot="0">
            <a:off x="846411" y="6487754"/>
            <a:ext cx="16632355" cy="28006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Resident memory dropped ~6–7× after the CPU pass (4.4–4.9 GB → 700 MB–1.5 GB) — weights dequantize on demand from the mmap’d file, not a persistent f32 copy. That is also how Gemma-2b went from untestable to ~1.54 GB resident.</a:t>
            </a:r>
          </a:p>
          <a:p>
            <a:pPr algn="l">
              <a:lnSpc>
                <a:spcPts val="2648"/>
              </a:lnSpc>
            </a:pPr>
          </a:p>
          <a:p>
            <a:pPr algn="l">
              <a:lnSpc>
                <a:spcPts val="2648"/>
              </a:lnSpc>
            </a:pPr>
            <a:r>
              <a:rPr lang="en-US" sz="2101">
                <a:solidFill>
                  <a:srgbClr val="ECF1F5"/>
                </a:solidFill>
                <a:latin typeface="Segoe UI"/>
                <a:ea typeface="Segoe UI"/>
                <a:cs typeface="Segoe UI"/>
                <a:sym typeface="Segoe UI"/>
              </a:rPr>
              <a:t>Built unmodified ggml-org/llama.cpp (commit 0b5be7e) from source, outside this repo, never vendored, never invoked by the submitted binary. GPT-2 loses because gpt2.c was not brought onto the lazy path — written down in STDLIB.md, not a mystery.</a:t>
            </a:r>
          </a:p>
          <a:p>
            <a:pPr algn="l">
              <a:lnSpc>
                <a:spcPts val="2648"/>
              </a:lnSpc>
            </a:pPr>
          </a:p>
          <a:p>
            <a:pPr algn="l">
              <a:lnSpc>
                <a:spcPts val="2648"/>
              </a:lnSpc>
            </a:pPr>
            <a:r>
              <a:rPr lang="en-US" sz="2101">
                <a:solidFill>
                  <a:srgbClr val="ECF1F5"/>
                </a:solidFill>
                <a:latin typeface="Segoe UI"/>
                <a:ea typeface="Segoe UI"/>
                <a:cs typeface="Segoe UI"/>
                <a:sym typeface="Segoe UI"/>
              </a:rPr>
              <a:t>Do not claim a speed win. Timing on this WSL2 guest is noisy for both engines (llama.cpp’s own ± often exceeds its mean).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11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CPU OPTIMIZATION  ·  RESEARCHED FROM REAL GGML, REIMPLEMENTED IN LIBC</a:t>
            </a:r>
          </a:p>
        </p:txBody>
      </p:sp>
      <p:sp>
        <p:nvSpPr>
          <p:cNvPr name="TextBox 7" id="7"/>
          <p:cNvSpPr txBox="true"/>
          <p:nvPr/>
        </p:nvSpPr>
        <p:spPr>
          <a:xfrm rot="0">
            <a:off x="846411" y="772116"/>
            <a:ext cx="16563727"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Two changes. Bit-identical output.</a:t>
            </a:r>
          </a:p>
        </p:txBody>
      </p:sp>
      <p:grpSp>
        <p:nvGrpSpPr>
          <p:cNvPr name="Group 8" id="8"/>
          <p:cNvGrpSpPr/>
          <p:nvPr/>
        </p:nvGrpSpPr>
        <p:grpSpPr>
          <a:xfrm rot="0">
            <a:off x="745436" y="1912210"/>
            <a:ext cx="8255098" cy="4892050"/>
            <a:chOff x="0" y="0"/>
            <a:chExt cx="11006798" cy="6522733"/>
          </a:xfrm>
        </p:grpSpPr>
        <p:sp>
          <p:nvSpPr>
            <p:cNvPr name="Freeform 9" id="9"/>
            <p:cNvSpPr/>
            <p:nvPr/>
          </p:nvSpPr>
          <p:spPr>
            <a:xfrm flipH="false" flipV="false" rot="0">
              <a:off x="0" y="0"/>
              <a:ext cx="11006836" cy="6522847"/>
            </a:xfrm>
            <a:custGeom>
              <a:avLst/>
              <a:gdLst/>
              <a:ahLst/>
              <a:cxnLst/>
              <a:rect r="r" b="b" t="t" l="l"/>
              <a:pathLst>
                <a:path h="6522847" w="11006836">
                  <a:moveTo>
                    <a:pt x="0" y="391414"/>
                  </a:moveTo>
                  <a:cubicBezTo>
                    <a:pt x="0" y="175260"/>
                    <a:pt x="175260" y="0"/>
                    <a:pt x="391414" y="0"/>
                  </a:cubicBezTo>
                  <a:lnTo>
                    <a:pt x="10615422" y="0"/>
                  </a:lnTo>
                  <a:cubicBezTo>
                    <a:pt x="10831576" y="0"/>
                    <a:pt x="11006836" y="175260"/>
                    <a:pt x="11006836" y="391414"/>
                  </a:cubicBezTo>
                  <a:lnTo>
                    <a:pt x="11006836" y="6131433"/>
                  </a:lnTo>
                  <a:cubicBezTo>
                    <a:pt x="11006836" y="6347587"/>
                    <a:pt x="10831576" y="6522847"/>
                    <a:pt x="10615422" y="6522847"/>
                  </a:cubicBezTo>
                  <a:lnTo>
                    <a:pt x="391414" y="6522847"/>
                  </a:lnTo>
                  <a:cubicBezTo>
                    <a:pt x="175260" y="6522720"/>
                    <a:pt x="0" y="6347460"/>
                    <a:pt x="0" y="6131433"/>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189577" y="2106692"/>
            <a:ext cx="7366816"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01   Persistent thread pool</a:t>
            </a:r>
          </a:p>
        </p:txBody>
      </p:sp>
      <p:sp>
        <p:nvSpPr>
          <p:cNvPr name="TextBox 11" id="11"/>
          <p:cNvSpPr txBox="true"/>
          <p:nvPr/>
        </p:nvSpPr>
        <p:spPr>
          <a:xfrm rot="0">
            <a:off x="1189577" y="2850175"/>
            <a:ext cx="7366816" cy="355566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linear() used to pthread_create / pthread_join on every call — about nine spawns per layer per token. TinyLlama’s 22 layers: ~200 thread births to emit one word.</a:t>
            </a:r>
          </a:p>
          <a:p>
            <a:pPr algn="l">
              <a:lnSpc>
                <a:spcPts val="2648"/>
              </a:lnSpc>
            </a:pPr>
          </a:p>
          <a:p>
            <a:pPr algn="l">
              <a:lnSpc>
                <a:spcPts val="2648"/>
              </a:lnSpc>
            </a:pPr>
            <a:r>
              <a:rPr lang="en-US" sz="2101">
                <a:solidFill>
                  <a:srgbClr val="ECF1F5"/>
                </a:solidFill>
                <a:latin typeface="Segoe UI"/>
                <a:ea typeface="Segoe UI"/>
                <a:cs typeface="Segoe UI"/>
                <a:sym typeface="Segoe UI"/>
              </a:rPr>
              <a:t>Now: a pool created once. Workers block on a condvar between jobs. No work-stealing, no NUMA — one hot call site.</a:t>
            </a:r>
          </a:p>
          <a:p>
            <a:pPr algn="l">
              <a:lnSpc>
                <a:spcPts val="2648"/>
              </a:lnSpc>
            </a:pPr>
          </a:p>
          <a:p>
            <a:pPr algn="l">
              <a:lnSpc>
                <a:spcPts val="2648"/>
              </a:lnSpc>
            </a:pPr>
            <a:r>
              <a:rPr lang="en-US" sz="2101">
                <a:solidFill>
                  <a:srgbClr val="ECF1F5"/>
                </a:solidFill>
                <a:latin typeface="Segoe UI"/>
                <a:ea typeface="Segoe UI"/>
                <a:cs typeface="Segoe UI"/>
                <a:sym typeface="Segoe UI"/>
              </a:rPr>
              <a:t>Caught on paper before running: a naive broadcast lets idle slots read stale job data from the previous dispatch. Each worker now checks that its slot actually got work this round.</a:t>
            </a:r>
          </a:p>
        </p:txBody>
      </p:sp>
      <p:grpSp>
        <p:nvGrpSpPr>
          <p:cNvPr name="Group 12" id="12"/>
          <p:cNvGrpSpPr/>
          <p:nvPr/>
        </p:nvGrpSpPr>
        <p:grpSpPr>
          <a:xfrm rot="0">
            <a:off x="9256004" y="1912210"/>
            <a:ext cx="8323736" cy="4892050"/>
            <a:chOff x="0" y="0"/>
            <a:chExt cx="11098314" cy="6522733"/>
          </a:xfrm>
        </p:grpSpPr>
        <p:sp>
          <p:nvSpPr>
            <p:cNvPr name="Freeform 13" id="13"/>
            <p:cNvSpPr/>
            <p:nvPr/>
          </p:nvSpPr>
          <p:spPr>
            <a:xfrm flipH="false" flipV="false" rot="0">
              <a:off x="0" y="0"/>
              <a:ext cx="11098403" cy="6522847"/>
            </a:xfrm>
            <a:custGeom>
              <a:avLst/>
              <a:gdLst/>
              <a:ahLst/>
              <a:cxnLst/>
              <a:rect r="r" b="b" t="t" l="l"/>
              <a:pathLst>
                <a:path h="6522847" w="11098403">
                  <a:moveTo>
                    <a:pt x="0" y="391414"/>
                  </a:moveTo>
                  <a:cubicBezTo>
                    <a:pt x="0" y="175260"/>
                    <a:pt x="175260" y="0"/>
                    <a:pt x="391414" y="0"/>
                  </a:cubicBezTo>
                  <a:lnTo>
                    <a:pt x="10706989" y="0"/>
                  </a:lnTo>
                  <a:cubicBezTo>
                    <a:pt x="10923143" y="0"/>
                    <a:pt x="11098403" y="175260"/>
                    <a:pt x="11098403" y="391414"/>
                  </a:cubicBezTo>
                  <a:lnTo>
                    <a:pt x="11098403" y="6131433"/>
                  </a:lnTo>
                  <a:cubicBezTo>
                    <a:pt x="11098403" y="6347587"/>
                    <a:pt x="10923143" y="6522847"/>
                    <a:pt x="10706989" y="6522847"/>
                  </a:cubicBezTo>
                  <a:lnTo>
                    <a:pt x="391414" y="6522847"/>
                  </a:lnTo>
                  <a:cubicBezTo>
                    <a:pt x="175260" y="6522720"/>
                    <a:pt x="0" y="6347460"/>
                    <a:pt x="0" y="6131433"/>
                  </a:cubicBezTo>
                  <a:close/>
                </a:path>
              </a:pathLst>
            </a:custGeom>
            <a:solidFill>
              <a:srgbClr val="141820"/>
            </a:solidFill>
            <a:ln w="19065" cap="sq">
              <a:solidFill>
                <a:srgbClr val="2A323E"/>
              </a:solidFill>
              <a:prstDash val="solid"/>
              <a:miter/>
            </a:ln>
          </p:spPr>
        </p:sp>
      </p:grpSp>
      <p:sp>
        <p:nvSpPr>
          <p:cNvPr name="TextBox 14" id="14"/>
          <p:cNvSpPr txBox="true"/>
          <p:nvPr/>
        </p:nvSpPr>
        <p:spPr>
          <a:xfrm rot="0">
            <a:off x="9700146" y="2106692"/>
            <a:ext cx="7435453"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02   On-demand row-chunk dequant</a:t>
            </a:r>
          </a:p>
        </p:txBody>
      </p:sp>
      <p:sp>
        <p:nvSpPr>
          <p:cNvPr name="TextBox 15" id="15"/>
          <p:cNvSpPr txBox="true"/>
          <p:nvPr/>
        </p:nvSpPr>
        <p:spPr>
          <a:xfrm rot="0">
            <a:off x="9700146" y="2850175"/>
            <a:ext cx="7435453" cy="355566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CPU batch-1 inference is memory-bandwidth bound. ggml never materializes a full f32 tensor — that’s the actual lever, not FLOPs.</a:t>
            </a:r>
          </a:p>
          <a:p>
            <a:pPr algn="l">
              <a:lnSpc>
                <a:spcPts val="2648"/>
              </a:lnSpc>
            </a:pPr>
          </a:p>
          <a:p>
            <a:pPr algn="l">
              <a:lnSpc>
                <a:spcPts val="2648"/>
              </a:lnSpc>
            </a:pPr>
            <a:r>
              <a:rPr lang="en-US" sz="2101">
                <a:solidFill>
                  <a:srgbClr val="ECF1F5"/>
                </a:solidFill>
                <a:latin typeface="Segoe UI"/>
                <a:ea typeface="Segoe UI"/>
                <a:cs typeface="Segoe UI"/>
                <a:sym typeface="Segoe UI"/>
              </a:rPr>
              <a:t>Big weights (embeddings, lm_head, every projection) dequantize in 256-row chunks straight out of the mmap’d file, into a small scratch buffer, then the existing f32 dot product.</a:t>
            </a:r>
          </a:p>
          <a:p>
            <a:pPr algn="l">
              <a:lnSpc>
                <a:spcPts val="2648"/>
              </a:lnSpc>
            </a:pPr>
          </a:p>
          <a:p>
            <a:pPr algn="l">
              <a:lnSpc>
                <a:spcPts val="2648"/>
              </a:lnSpc>
            </a:pPr>
            <a:r>
              <a:rPr lang="en-US" sz="2101">
                <a:solidFill>
                  <a:srgbClr val="ECF1F5"/>
                </a:solidFill>
                <a:latin typeface="Segoe UI"/>
                <a:ea typeface="Segoe UI"/>
                <a:cs typeface="Segoe UI"/>
                <a:sym typeface="Segoe UI"/>
              </a:rPr>
              <a:t>Chunk size is fixed, not “split by core count.” Gemma’s 256,128-row embed would otherwise need a multi-hundred-MB buffer per worker — the problem, moved down one level.</a:t>
            </a:r>
          </a:p>
        </p:txBody>
      </p:sp>
      <p:grpSp>
        <p:nvGrpSpPr>
          <p:cNvPr name="Group 16" id="16"/>
          <p:cNvGrpSpPr/>
          <p:nvPr/>
        </p:nvGrpSpPr>
        <p:grpSpPr>
          <a:xfrm rot="0">
            <a:off x="745436" y="7059730"/>
            <a:ext cx="16834304" cy="2352608"/>
            <a:chOff x="0" y="0"/>
            <a:chExt cx="22445739" cy="3136811"/>
          </a:xfrm>
        </p:grpSpPr>
        <p:sp>
          <p:nvSpPr>
            <p:cNvPr name="Freeform 17" id="17"/>
            <p:cNvSpPr/>
            <p:nvPr/>
          </p:nvSpPr>
          <p:spPr>
            <a:xfrm flipH="false" flipV="false" rot="0">
              <a:off x="0" y="0"/>
              <a:ext cx="22445726" cy="3136773"/>
            </a:xfrm>
            <a:custGeom>
              <a:avLst/>
              <a:gdLst/>
              <a:ahLst/>
              <a:cxnLst/>
              <a:rect r="r" b="b" t="t" l="l"/>
              <a:pathLst>
                <a:path h="3136773" w="22445726">
                  <a:moveTo>
                    <a:pt x="0" y="188214"/>
                  </a:moveTo>
                  <a:cubicBezTo>
                    <a:pt x="0" y="84201"/>
                    <a:pt x="84201" y="0"/>
                    <a:pt x="188214" y="0"/>
                  </a:cubicBezTo>
                  <a:lnTo>
                    <a:pt x="22257513" y="0"/>
                  </a:lnTo>
                  <a:cubicBezTo>
                    <a:pt x="22361399" y="0"/>
                    <a:pt x="22445726" y="84201"/>
                    <a:pt x="22445726" y="188214"/>
                  </a:cubicBezTo>
                  <a:lnTo>
                    <a:pt x="22445726" y="2948559"/>
                  </a:lnTo>
                  <a:cubicBezTo>
                    <a:pt x="22445726" y="3052445"/>
                    <a:pt x="22361525" y="3136773"/>
                    <a:pt x="22257513" y="3136773"/>
                  </a:cubicBezTo>
                  <a:lnTo>
                    <a:pt x="188214" y="3136773"/>
                  </a:lnTo>
                  <a:cubicBezTo>
                    <a:pt x="84201" y="3136773"/>
                    <a:pt x="0" y="3052572"/>
                    <a:pt x="0" y="2948559"/>
                  </a:cubicBezTo>
                  <a:close/>
                </a:path>
              </a:pathLst>
            </a:custGeom>
            <a:solidFill>
              <a:srgbClr val="1A202A"/>
            </a:solidFill>
            <a:ln w="19065" cap="sq">
              <a:solidFill>
                <a:srgbClr val="2A323E"/>
              </a:solidFill>
              <a:prstDash val="solid"/>
              <a:miter/>
            </a:ln>
          </p:spPr>
        </p:sp>
      </p:grpSp>
      <p:sp>
        <p:nvSpPr>
          <p:cNvPr name="TextBox 18" id="18"/>
          <p:cNvSpPr txBox="true"/>
          <p:nvPr/>
        </p:nvSpPr>
        <p:spPr>
          <a:xfrm rot="0">
            <a:off x="1189577" y="7338812"/>
            <a:ext cx="16014659"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Measured:  ~4.4–4.9 GB  →  ~700 MB–1.5 GB   (6–7×).  Gemma-2b went from untestable to verified at ~1.5 GB.  Acceptance bar was bit-identical generated text against the pre-change binary, not “doesn’t crash.”</a:t>
            </a:r>
          </a:p>
          <a:p>
            <a:pPr algn="l">
              <a:lnSpc>
                <a:spcPts val="2648"/>
              </a:lnSpc>
            </a:pPr>
          </a:p>
          <a:p>
            <a:pPr algn="l">
              <a:lnSpc>
                <a:spcPts val="2648"/>
              </a:lnSpc>
            </a:pPr>
            <a:r>
              <a:rPr lang="en-US" sz="2101">
                <a:solidFill>
                  <a:srgbClr val="ECF1F5"/>
                </a:solidFill>
                <a:latin typeface="Segoe UI"/>
                <a:ea typeface="Segoe UI"/>
                <a:cs typeface="Segoe UI"/>
                <a:sym typeface="Segoe UI"/>
              </a:rPr>
              <a:t>Still simpler than ggml, on purpose: no int8×int8 kernels, lazy path is serial, GPT-2 weights were not brought onto it. That’s the RSS loss on slide 10.</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12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ARCHITECTURE.MD</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One concern per file</a:t>
            </a:r>
          </a:p>
        </p:txBody>
      </p:sp>
      <p:grpSp>
        <p:nvGrpSpPr>
          <p:cNvPr name="Group 8" id="8"/>
          <p:cNvGrpSpPr/>
          <p:nvPr/>
        </p:nvGrpSpPr>
        <p:grpSpPr>
          <a:xfrm rot="0">
            <a:off x="745436" y="1912210"/>
            <a:ext cx="5441118" cy="3244844"/>
            <a:chOff x="0" y="0"/>
            <a:chExt cx="7254824" cy="4326458"/>
          </a:xfrm>
        </p:grpSpPr>
        <p:sp>
          <p:nvSpPr>
            <p:cNvPr name="Freeform 9" id="9"/>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148401" y="2202771"/>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gguf.c</a:t>
            </a:r>
          </a:p>
        </p:txBody>
      </p:sp>
      <p:sp>
        <p:nvSpPr>
          <p:cNvPr name="TextBox 11" id="11"/>
          <p:cNvSpPr txBox="true"/>
          <p:nvPr/>
        </p:nvSpPr>
        <p:spPr>
          <a:xfrm rot="0">
            <a:off x="1148401" y="2987440"/>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mmap the file. Parse header, metadata, tensor-info. Don't touch weights yet.</a:t>
            </a:r>
          </a:p>
        </p:txBody>
      </p:sp>
      <p:grpSp>
        <p:nvGrpSpPr>
          <p:cNvPr name="Group 12" id="12"/>
          <p:cNvGrpSpPr/>
          <p:nvPr/>
        </p:nvGrpSpPr>
        <p:grpSpPr>
          <a:xfrm rot="0">
            <a:off x="6442024" y="1912210"/>
            <a:ext cx="5441118" cy="3244844"/>
            <a:chOff x="0" y="0"/>
            <a:chExt cx="7254824" cy="4326458"/>
          </a:xfrm>
        </p:grpSpPr>
        <p:sp>
          <p:nvSpPr>
            <p:cNvPr name="Freeform 13" id="13"/>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14" id="14"/>
          <p:cNvSpPr txBox="true"/>
          <p:nvPr/>
        </p:nvSpPr>
        <p:spPr>
          <a:xfrm rot="0">
            <a:off x="6844989" y="2202771"/>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main.c</a:t>
            </a:r>
          </a:p>
        </p:txBody>
      </p:sp>
      <p:sp>
        <p:nvSpPr>
          <p:cNvPr name="TextBox 15" id="15"/>
          <p:cNvSpPr txBox="true"/>
          <p:nvPr/>
        </p:nvSpPr>
        <p:spPr>
          <a:xfrm rot="0">
            <a:off x="6844989" y="2987440"/>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Read general.architecture. gpt2 → gpt2.c. Else LLaMA-family (llama / qwen2 / gemma).</a:t>
            </a:r>
          </a:p>
        </p:txBody>
      </p:sp>
      <p:grpSp>
        <p:nvGrpSpPr>
          <p:cNvPr name="Group 16" id="16"/>
          <p:cNvGrpSpPr/>
          <p:nvPr/>
        </p:nvGrpSpPr>
        <p:grpSpPr>
          <a:xfrm rot="0">
            <a:off x="12138622" y="1912210"/>
            <a:ext cx="5441118" cy="3244844"/>
            <a:chOff x="0" y="0"/>
            <a:chExt cx="7254824" cy="4326458"/>
          </a:xfrm>
        </p:grpSpPr>
        <p:sp>
          <p:nvSpPr>
            <p:cNvPr name="Freeform 17" id="17"/>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18" id="18"/>
          <p:cNvSpPr txBox="true"/>
          <p:nvPr/>
        </p:nvSpPr>
        <p:spPr>
          <a:xfrm rot="0">
            <a:off x="12541577" y="2202771"/>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model.c</a:t>
            </a:r>
          </a:p>
        </p:txBody>
      </p:sp>
      <p:sp>
        <p:nvSpPr>
          <p:cNvPr name="TextBox 19" id="19"/>
          <p:cNvSpPr txBox="true"/>
          <p:nvPr/>
        </p:nvSpPr>
        <p:spPr>
          <a:xfrm rot="0">
            <a:off x="12541577" y="2987440"/>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Config from namespaced keys. Big weights stay lazy. Norms/biases stay eager.</a:t>
            </a:r>
          </a:p>
        </p:txBody>
      </p:sp>
      <p:grpSp>
        <p:nvGrpSpPr>
          <p:cNvPr name="Group 20" id="20"/>
          <p:cNvGrpSpPr/>
          <p:nvPr/>
        </p:nvGrpSpPr>
        <p:grpSpPr>
          <a:xfrm rot="0">
            <a:off x="745436" y="5412524"/>
            <a:ext cx="5441118" cy="3244844"/>
            <a:chOff x="0" y="0"/>
            <a:chExt cx="7254824" cy="4326458"/>
          </a:xfrm>
        </p:grpSpPr>
        <p:sp>
          <p:nvSpPr>
            <p:cNvPr name="Freeform 21" id="21"/>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22" id="22"/>
          <p:cNvSpPr txBox="true"/>
          <p:nvPr/>
        </p:nvSpPr>
        <p:spPr>
          <a:xfrm rot="0">
            <a:off x="1148401" y="5703084"/>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tokenizer.c</a:t>
            </a:r>
          </a:p>
        </p:txBody>
      </p:sp>
      <p:sp>
        <p:nvSpPr>
          <p:cNvPr name="TextBox 23" id="23"/>
          <p:cNvSpPr txBox="true"/>
          <p:nvPr/>
        </p:nvSpPr>
        <p:spPr>
          <a:xfrm rot="0">
            <a:off x="1148401" y="6487754"/>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Vocab lives in the GGUF. SPM or byte-level BPE, dispatched at load time.</a:t>
            </a:r>
          </a:p>
        </p:txBody>
      </p:sp>
      <p:grpSp>
        <p:nvGrpSpPr>
          <p:cNvPr name="Group 24" id="24"/>
          <p:cNvGrpSpPr/>
          <p:nvPr/>
        </p:nvGrpSpPr>
        <p:grpSpPr>
          <a:xfrm rot="0">
            <a:off x="6442024" y="5412524"/>
            <a:ext cx="5441118" cy="3244844"/>
            <a:chOff x="0" y="0"/>
            <a:chExt cx="7254824" cy="4326458"/>
          </a:xfrm>
        </p:grpSpPr>
        <p:sp>
          <p:nvSpPr>
            <p:cNvPr name="Freeform 25" id="25"/>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26" id="26"/>
          <p:cNvSpPr txBox="true"/>
          <p:nvPr/>
        </p:nvSpPr>
        <p:spPr>
          <a:xfrm rot="0">
            <a:off x="6844989" y="5703084"/>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generate.c</a:t>
            </a:r>
          </a:p>
        </p:txBody>
      </p:sp>
      <p:sp>
        <p:nvSpPr>
          <p:cNvPr name="TextBox 27" id="27"/>
          <p:cNvSpPr txBox="true"/>
          <p:nvPr/>
        </p:nvSpPr>
        <p:spPr>
          <a:xfrm rot="0">
            <a:off x="6844989" y="6487754"/>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Prefill every prompt token into the KV cache, then sample. Same forward_step as --bench.</a:t>
            </a:r>
          </a:p>
        </p:txBody>
      </p:sp>
      <p:grpSp>
        <p:nvGrpSpPr>
          <p:cNvPr name="Group 28" id="28"/>
          <p:cNvGrpSpPr/>
          <p:nvPr/>
        </p:nvGrpSpPr>
        <p:grpSpPr>
          <a:xfrm rot="0">
            <a:off x="12138622" y="5412524"/>
            <a:ext cx="5441118" cy="3244844"/>
            <a:chOff x="0" y="0"/>
            <a:chExt cx="7254824" cy="4326458"/>
          </a:xfrm>
        </p:grpSpPr>
        <p:sp>
          <p:nvSpPr>
            <p:cNvPr name="Freeform 29" id="29"/>
            <p:cNvSpPr/>
            <p:nvPr/>
          </p:nvSpPr>
          <p:spPr>
            <a:xfrm flipH="false" flipV="false" rot="0">
              <a:off x="0" y="0"/>
              <a:ext cx="7254875" cy="4326509"/>
            </a:xfrm>
            <a:custGeom>
              <a:avLst/>
              <a:gdLst/>
              <a:ahLst/>
              <a:cxnLst/>
              <a:rect r="r" b="b" t="t" l="l"/>
              <a:pathLst>
                <a:path h="4326509" w="7254875">
                  <a:moveTo>
                    <a:pt x="0" y="259588"/>
                  </a:moveTo>
                  <a:cubicBezTo>
                    <a:pt x="0" y="116205"/>
                    <a:pt x="116205" y="0"/>
                    <a:pt x="259588" y="0"/>
                  </a:cubicBezTo>
                  <a:lnTo>
                    <a:pt x="6995287" y="0"/>
                  </a:lnTo>
                  <a:cubicBezTo>
                    <a:pt x="7138670" y="0"/>
                    <a:pt x="7254875" y="116205"/>
                    <a:pt x="7254875" y="259588"/>
                  </a:cubicBezTo>
                  <a:lnTo>
                    <a:pt x="7254875" y="4066921"/>
                  </a:lnTo>
                  <a:cubicBezTo>
                    <a:pt x="7254875" y="4210304"/>
                    <a:pt x="7138670" y="4326509"/>
                    <a:pt x="6995287" y="4326509"/>
                  </a:cubicBezTo>
                  <a:lnTo>
                    <a:pt x="259588" y="4326509"/>
                  </a:lnTo>
                  <a:cubicBezTo>
                    <a:pt x="116205" y="4326509"/>
                    <a:pt x="0" y="4210177"/>
                    <a:pt x="0" y="4066921"/>
                  </a:cubicBezTo>
                  <a:close/>
                </a:path>
              </a:pathLst>
            </a:custGeom>
            <a:solidFill>
              <a:srgbClr val="141820"/>
            </a:solidFill>
            <a:ln w="19065" cap="sq">
              <a:solidFill>
                <a:srgbClr val="2A323E"/>
              </a:solidFill>
              <a:prstDash val="solid"/>
              <a:miter/>
            </a:ln>
          </p:spPr>
        </p:sp>
      </p:grpSp>
      <p:sp>
        <p:nvSpPr>
          <p:cNvPr name="TextBox 30" id="30"/>
          <p:cNvSpPr txBox="true"/>
          <p:nvPr/>
        </p:nvSpPr>
        <p:spPr>
          <a:xfrm rot="0">
            <a:off x="12541577" y="5703084"/>
            <a:ext cx="4621473" cy="524304"/>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kv_cache.c</a:t>
            </a:r>
          </a:p>
        </p:txBody>
      </p:sp>
      <p:sp>
        <p:nvSpPr>
          <p:cNvPr name="TextBox 31" id="31"/>
          <p:cNvSpPr txBox="true"/>
          <p:nvPr/>
        </p:nvSpPr>
        <p:spPr>
          <a:xfrm rot="0">
            <a:off x="12541577" y="6487754"/>
            <a:ext cx="4621473" cy="1771193"/>
          </a:xfrm>
          <a:prstGeom prst="rect">
            <a:avLst/>
          </a:prstGeom>
        </p:spPr>
        <p:txBody>
          <a:bodyPr anchor="t" rtlCol="false" tIns="0" lIns="0" bIns="0" rIns="0">
            <a:spAutoFit/>
          </a:bodyPr>
          <a:lstStyle/>
          <a:p>
            <a:pPr algn="l">
              <a:lnSpc>
                <a:spcPts val="2648"/>
              </a:lnSpc>
            </a:pPr>
            <a:r>
              <a:rPr lang="en-US" sz="2101">
                <a:solidFill>
                  <a:srgbClr val="ECF1F5"/>
                </a:solidFill>
                <a:latin typeface="Segoe UI"/>
                <a:ea typeface="Segoe UI"/>
                <a:cs typeface="Segoe UI"/>
                <a:sym typeface="Segoe UI"/>
              </a:rPr>
              <a:t>One cache per layer, sized to kv_dim — not the full embedding width.</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82363"/>
            <a:chOff x="0" y="0"/>
            <a:chExt cx="24402453" cy="109817"/>
          </a:xfrm>
        </p:grpSpPr>
        <p:sp>
          <p:nvSpPr>
            <p:cNvPr name="Freeform 3" id="3"/>
            <p:cNvSpPr/>
            <p:nvPr/>
          </p:nvSpPr>
          <p:spPr>
            <a:xfrm flipH="false" flipV="false" rot="0">
              <a:off x="0" y="0"/>
              <a:ext cx="24402414" cy="109855"/>
            </a:xfrm>
            <a:custGeom>
              <a:avLst/>
              <a:gdLst/>
              <a:ahLst/>
              <a:cxnLst/>
              <a:rect r="r" b="b" t="t" l="l"/>
              <a:pathLst>
                <a:path h="109855" w="24402414">
                  <a:moveTo>
                    <a:pt x="0" y="0"/>
                  </a:moveTo>
                  <a:lnTo>
                    <a:pt x="24402414" y="0"/>
                  </a:lnTo>
                  <a:lnTo>
                    <a:pt x="24402414" y="109855"/>
                  </a:lnTo>
                  <a:lnTo>
                    <a:pt x="0" y="109855"/>
                  </a:lnTo>
                  <a:close/>
                </a:path>
              </a:pathLst>
            </a:custGeom>
            <a:solidFill>
              <a:srgbClr val="3FB950"/>
            </a:solidFill>
          </p:spPr>
        </p:sp>
      </p:grpSp>
      <p:sp>
        <p:nvSpPr>
          <p:cNvPr name="TextBox 4" id="4"/>
          <p:cNvSpPr txBox="true"/>
          <p:nvPr/>
        </p:nvSpPr>
        <p:spPr>
          <a:xfrm rot="0">
            <a:off x="846411" y="9901504"/>
            <a:ext cx="8053159" cy="292913"/>
          </a:xfrm>
          <a:prstGeom prst="rect">
            <a:avLst/>
          </a:prstGeom>
        </p:spPr>
        <p:txBody>
          <a:bodyPr anchor="t" rtlCol="false" tIns="0" lIns="0" bIns="0" rIns="0">
            <a:spAutoFit/>
          </a:bodyPr>
          <a:lstStyle/>
          <a:p>
            <a:pPr algn="l">
              <a:lnSpc>
                <a:spcPts val="1891"/>
              </a:lnSpc>
            </a:pPr>
            <a:r>
              <a:rPr lang="en-US" sz="1501">
                <a:solidFill>
                  <a:srgbClr val="5A6470"/>
                </a:solidFill>
                <a:latin typeface="Segoe UI"/>
                <a:ea typeface="Segoe UI"/>
                <a:cs typeface="Segoe UI"/>
                <a:sym typeface="Segoe UI"/>
              </a:rPr>
              <a:t>llamini.cpp  ·  Track F</a:t>
            </a:r>
          </a:p>
        </p:txBody>
      </p:sp>
      <p:sp>
        <p:nvSpPr>
          <p:cNvPr name="TextBox 5" id="5"/>
          <p:cNvSpPr txBox="true"/>
          <p:nvPr/>
        </p:nvSpPr>
        <p:spPr>
          <a:xfrm rot="0">
            <a:off x="15739910" y="9863404"/>
            <a:ext cx="1738865" cy="331013"/>
          </a:xfrm>
          <a:prstGeom prst="rect">
            <a:avLst/>
          </a:prstGeom>
        </p:spPr>
        <p:txBody>
          <a:bodyPr anchor="t" rtlCol="false" tIns="0" lIns="0" bIns="0" rIns="0">
            <a:spAutoFit/>
          </a:bodyPr>
          <a:lstStyle/>
          <a:p>
            <a:pPr algn="r">
              <a:lnSpc>
                <a:spcPts val="1891"/>
              </a:lnSpc>
            </a:pPr>
            <a:r>
              <a:rPr lang="en-US" sz="1501">
                <a:solidFill>
                  <a:srgbClr val="5A6470"/>
                </a:solidFill>
                <a:latin typeface="Consolas"/>
                <a:ea typeface="Consolas"/>
                <a:cs typeface="Consolas"/>
                <a:sym typeface="Consolas"/>
              </a:rPr>
              <a:t>13  /  14</a:t>
            </a:r>
          </a:p>
        </p:txBody>
      </p:sp>
      <p:sp>
        <p:nvSpPr>
          <p:cNvPr name="TextBox 6" id="6"/>
          <p:cNvSpPr txBox="true"/>
          <p:nvPr/>
        </p:nvSpPr>
        <p:spPr>
          <a:xfrm rot="0">
            <a:off x="846411" y="420548"/>
            <a:ext cx="16289188" cy="302438"/>
          </a:xfrm>
          <a:prstGeom prst="rect">
            <a:avLst/>
          </a:prstGeom>
        </p:spPr>
        <p:txBody>
          <a:bodyPr anchor="t" rtlCol="false" tIns="0" lIns="0" bIns="0" rIns="0">
            <a:spAutoFit/>
          </a:bodyPr>
          <a:lstStyle/>
          <a:p>
            <a:pPr algn="l">
              <a:lnSpc>
                <a:spcPts val="2080"/>
              </a:lnSpc>
            </a:pPr>
            <a:r>
              <a:rPr lang="en-US" sz="1651" b="true">
                <a:solidFill>
                  <a:srgbClr val="3FB950"/>
                </a:solidFill>
                <a:latin typeface="Segoe UI Bold"/>
                <a:ea typeface="Segoe UI Bold"/>
                <a:cs typeface="Segoe UI Bold"/>
                <a:sym typeface="Segoe UI Bold"/>
              </a:rPr>
              <a:t>NAMED IN THE README, NOT PAPERED OVER</a:t>
            </a:r>
          </a:p>
        </p:txBody>
      </p:sp>
      <p:sp>
        <p:nvSpPr>
          <p:cNvPr name="TextBox 7" id="7"/>
          <p:cNvSpPr txBox="true"/>
          <p:nvPr/>
        </p:nvSpPr>
        <p:spPr>
          <a:xfrm rot="0">
            <a:off x="846411" y="772116"/>
            <a:ext cx="16289188" cy="89800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What this is not</a:t>
            </a:r>
          </a:p>
        </p:txBody>
      </p:sp>
      <p:grpSp>
        <p:nvGrpSpPr>
          <p:cNvPr name="Group 8" id="8"/>
          <p:cNvGrpSpPr/>
          <p:nvPr/>
        </p:nvGrpSpPr>
        <p:grpSpPr>
          <a:xfrm rot="0">
            <a:off x="745436" y="1843573"/>
            <a:ext cx="8255098" cy="1693726"/>
            <a:chOff x="0" y="0"/>
            <a:chExt cx="11006798" cy="2258301"/>
          </a:xfrm>
        </p:grpSpPr>
        <p:sp>
          <p:nvSpPr>
            <p:cNvPr name="Freeform 9" id="9"/>
            <p:cNvSpPr/>
            <p:nvPr/>
          </p:nvSpPr>
          <p:spPr>
            <a:xfrm flipH="false" flipV="false" rot="0">
              <a:off x="0" y="0"/>
              <a:ext cx="11006836" cy="2258314"/>
            </a:xfrm>
            <a:custGeom>
              <a:avLst/>
              <a:gdLst/>
              <a:ahLst/>
              <a:cxnLst/>
              <a:rect r="r" b="b" t="t" l="l"/>
              <a:pathLst>
                <a:path h="2258314" w="11006836">
                  <a:moveTo>
                    <a:pt x="0" y="135509"/>
                  </a:moveTo>
                  <a:cubicBezTo>
                    <a:pt x="0" y="60706"/>
                    <a:pt x="60706" y="0"/>
                    <a:pt x="135509" y="0"/>
                  </a:cubicBezTo>
                  <a:lnTo>
                    <a:pt x="10871327" y="0"/>
                  </a:lnTo>
                  <a:cubicBezTo>
                    <a:pt x="10946130" y="0"/>
                    <a:pt x="11006836" y="60706"/>
                    <a:pt x="11006836" y="135509"/>
                  </a:cubicBezTo>
                  <a:lnTo>
                    <a:pt x="11006836" y="2122805"/>
                  </a:lnTo>
                  <a:cubicBezTo>
                    <a:pt x="11006836" y="2197608"/>
                    <a:pt x="10946130" y="2258314"/>
                    <a:pt x="1087132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120940" y="2054028"/>
            <a:ext cx="7504081"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Single-turn only</a:t>
            </a:r>
          </a:p>
        </p:txBody>
      </p:sp>
      <p:sp>
        <p:nvSpPr>
          <p:cNvPr name="TextBox 11" id="11"/>
          <p:cNvSpPr txBox="true"/>
          <p:nvPr/>
        </p:nvSpPr>
        <p:spPr>
          <a:xfrm rot="0">
            <a:off x="1120940" y="2548185"/>
            <a:ext cx="7504081"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Every chat line resets every layer's KV cache. No conversational memory.</a:t>
            </a:r>
          </a:p>
        </p:txBody>
      </p:sp>
      <p:grpSp>
        <p:nvGrpSpPr>
          <p:cNvPr name="Group 12" id="12"/>
          <p:cNvGrpSpPr/>
          <p:nvPr/>
        </p:nvGrpSpPr>
        <p:grpSpPr>
          <a:xfrm rot="0">
            <a:off x="745436" y="3696681"/>
            <a:ext cx="8255098" cy="1693726"/>
            <a:chOff x="0" y="0"/>
            <a:chExt cx="11006798" cy="2258301"/>
          </a:xfrm>
        </p:grpSpPr>
        <p:sp>
          <p:nvSpPr>
            <p:cNvPr name="Freeform 13" id="13"/>
            <p:cNvSpPr/>
            <p:nvPr/>
          </p:nvSpPr>
          <p:spPr>
            <a:xfrm flipH="false" flipV="false" rot="0">
              <a:off x="0" y="0"/>
              <a:ext cx="11006836" cy="2258314"/>
            </a:xfrm>
            <a:custGeom>
              <a:avLst/>
              <a:gdLst/>
              <a:ahLst/>
              <a:cxnLst/>
              <a:rect r="r" b="b" t="t" l="l"/>
              <a:pathLst>
                <a:path h="2258314" w="11006836">
                  <a:moveTo>
                    <a:pt x="0" y="135509"/>
                  </a:moveTo>
                  <a:cubicBezTo>
                    <a:pt x="0" y="60706"/>
                    <a:pt x="60706" y="0"/>
                    <a:pt x="135509" y="0"/>
                  </a:cubicBezTo>
                  <a:lnTo>
                    <a:pt x="10871327" y="0"/>
                  </a:lnTo>
                  <a:cubicBezTo>
                    <a:pt x="10946130" y="0"/>
                    <a:pt x="11006836" y="60706"/>
                    <a:pt x="11006836" y="135509"/>
                  </a:cubicBezTo>
                  <a:lnTo>
                    <a:pt x="11006836" y="2122805"/>
                  </a:lnTo>
                  <a:cubicBezTo>
                    <a:pt x="11006836" y="2197608"/>
                    <a:pt x="10946130" y="2258314"/>
                    <a:pt x="1087132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14" id="14"/>
          <p:cNvSpPr txBox="true"/>
          <p:nvPr/>
        </p:nvSpPr>
        <p:spPr>
          <a:xfrm rot="0">
            <a:off x="1120940" y="3907126"/>
            <a:ext cx="7504081"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Chat template is TinyLlama-only</a:t>
            </a:r>
          </a:p>
        </p:txBody>
      </p:sp>
      <p:sp>
        <p:nvSpPr>
          <p:cNvPr name="TextBox 15" id="15"/>
          <p:cNvSpPr txBox="true"/>
          <p:nvPr/>
        </p:nvSpPr>
        <p:spPr>
          <a:xfrm rot="0">
            <a:off x="1120940" y="4401293"/>
            <a:ext cx="7504081"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Best-effort from tokenizer_config.json, not verified against transformers. Qwen2 (ChatML) and GPT-2 are raw-completion.</a:t>
            </a:r>
          </a:p>
        </p:txBody>
      </p:sp>
      <p:grpSp>
        <p:nvGrpSpPr>
          <p:cNvPr name="Group 16" id="16"/>
          <p:cNvGrpSpPr/>
          <p:nvPr/>
        </p:nvGrpSpPr>
        <p:grpSpPr>
          <a:xfrm rot="0">
            <a:off x="745436" y="5549789"/>
            <a:ext cx="8255098" cy="1693726"/>
            <a:chOff x="0" y="0"/>
            <a:chExt cx="11006798" cy="2258301"/>
          </a:xfrm>
        </p:grpSpPr>
        <p:sp>
          <p:nvSpPr>
            <p:cNvPr name="Freeform 17" id="17"/>
            <p:cNvSpPr/>
            <p:nvPr/>
          </p:nvSpPr>
          <p:spPr>
            <a:xfrm flipH="false" flipV="false" rot="0">
              <a:off x="0" y="0"/>
              <a:ext cx="11006836" cy="2258314"/>
            </a:xfrm>
            <a:custGeom>
              <a:avLst/>
              <a:gdLst/>
              <a:ahLst/>
              <a:cxnLst/>
              <a:rect r="r" b="b" t="t" l="l"/>
              <a:pathLst>
                <a:path h="2258314" w="11006836">
                  <a:moveTo>
                    <a:pt x="0" y="135509"/>
                  </a:moveTo>
                  <a:cubicBezTo>
                    <a:pt x="0" y="60706"/>
                    <a:pt x="60706" y="0"/>
                    <a:pt x="135509" y="0"/>
                  </a:cubicBezTo>
                  <a:lnTo>
                    <a:pt x="10871327" y="0"/>
                  </a:lnTo>
                  <a:cubicBezTo>
                    <a:pt x="10946130" y="0"/>
                    <a:pt x="11006836" y="60706"/>
                    <a:pt x="11006836" y="135509"/>
                  </a:cubicBezTo>
                  <a:lnTo>
                    <a:pt x="11006836" y="2122805"/>
                  </a:lnTo>
                  <a:cubicBezTo>
                    <a:pt x="11006836" y="2197608"/>
                    <a:pt x="10946130" y="2258314"/>
                    <a:pt x="1087132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18" id="18"/>
          <p:cNvSpPr txBox="true"/>
          <p:nvPr/>
        </p:nvSpPr>
        <p:spPr>
          <a:xfrm rot="0">
            <a:off x="1120940" y="5760234"/>
            <a:ext cx="7504081"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Partial quant coverage</a:t>
            </a:r>
          </a:p>
        </p:txBody>
      </p:sp>
      <p:sp>
        <p:nvSpPr>
          <p:cNvPr name="TextBox 19" id="19"/>
          <p:cNvSpPr txBox="true"/>
          <p:nvPr/>
        </p:nvSpPr>
        <p:spPr>
          <a:xfrm rot="0">
            <a:off x="1120940" y="6254401"/>
            <a:ext cx="7504081"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The 9 formats the four files actually use. Q2_K / Q3_K / Q8_K / IQ* return -1, never silently misread.</a:t>
            </a:r>
          </a:p>
        </p:txBody>
      </p:sp>
      <p:grpSp>
        <p:nvGrpSpPr>
          <p:cNvPr name="Group 20" id="20"/>
          <p:cNvGrpSpPr/>
          <p:nvPr/>
        </p:nvGrpSpPr>
        <p:grpSpPr>
          <a:xfrm rot="0">
            <a:off x="745436" y="7402897"/>
            <a:ext cx="8255098" cy="1693726"/>
            <a:chOff x="0" y="0"/>
            <a:chExt cx="11006798" cy="2258301"/>
          </a:xfrm>
        </p:grpSpPr>
        <p:sp>
          <p:nvSpPr>
            <p:cNvPr name="Freeform 21" id="21"/>
            <p:cNvSpPr/>
            <p:nvPr/>
          </p:nvSpPr>
          <p:spPr>
            <a:xfrm flipH="false" flipV="false" rot="0">
              <a:off x="0" y="0"/>
              <a:ext cx="11006836" cy="2258314"/>
            </a:xfrm>
            <a:custGeom>
              <a:avLst/>
              <a:gdLst/>
              <a:ahLst/>
              <a:cxnLst/>
              <a:rect r="r" b="b" t="t" l="l"/>
              <a:pathLst>
                <a:path h="2258314" w="11006836">
                  <a:moveTo>
                    <a:pt x="0" y="135509"/>
                  </a:moveTo>
                  <a:cubicBezTo>
                    <a:pt x="0" y="60706"/>
                    <a:pt x="60706" y="0"/>
                    <a:pt x="135509" y="0"/>
                  </a:cubicBezTo>
                  <a:lnTo>
                    <a:pt x="10871327" y="0"/>
                  </a:lnTo>
                  <a:cubicBezTo>
                    <a:pt x="10946130" y="0"/>
                    <a:pt x="11006836" y="60706"/>
                    <a:pt x="11006836" y="135509"/>
                  </a:cubicBezTo>
                  <a:lnTo>
                    <a:pt x="11006836" y="2122805"/>
                  </a:lnTo>
                  <a:cubicBezTo>
                    <a:pt x="11006836" y="2197608"/>
                    <a:pt x="10946130" y="2258314"/>
                    <a:pt x="1087132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22" id="22"/>
          <p:cNvSpPr txBox="true"/>
          <p:nvPr/>
        </p:nvSpPr>
        <p:spPr>
          <a:xfrm rot="0">
            <a:off x="1120940" y="7613342"/>
            <a:ext cx="7504081"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Sampling is small</a:t>
            </a:r>
          </a:p>
        </p:txBody>
      </p:sp>
      <p:sp>
        <p:nvSpPr>
          <p:cNvPr name="TextBox 23" id="23"/>
          <p:cNvSpPr txBox="true"/>
          <p:nvPr/>
        </p:nvSpPr>
        <p:spPr>
          <a:xfrm rot="0">
            <a:off x="1120940" y="8107509"/>
            <a:ext cx="7504081"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Greedy default. --temp adds temperature + top-p. No top-k, no repetition penalty, no --seed.</a:t>
            </a:r>
          </a:p>
        </p:txBody>
      </p:sp>
      <p:grpSp>
        <p:nvGrpSpPr>
          <p:cNvPr name="Group 24" id="24"/>
          <p:cNvGrpSpPr/>
          <p:nvPr/>
        </p:nvGrpSpPr>
        <p:grpSpPr>
          <a:xfrm rot="0">
            <a:off x="9256004" y="1843573"/>
            <a:ext cx="8323736" cy="1693726"/>
            <a:chOff x="0" y="0"/>
            <a:chExt cx="11098314" cy="2258301"/>
          </a:xfrm>
        </p:grpSpPr>
        <p:sp>
          <p:nvSpPr>
            <p:cNvPr name="Freeform 25" id="25"/>
            <p:cNvSpPr/>
            <p:nvPr/>
          </p:nvSpPr>
          <p:spPr>
            <a:xfrm flipH="false" flipV="false" rot="0">
              <a:off x="0" y="0"/>
              <a:ext cx="11098276" cy="2258314"/>
            </a:xfrm>
            <a:custGeom>
              <a:avLst/>
              <a:gdLst/>
              <a:ahLst/>
              <a:cxnLst/>
              <a:rect r="r" b="b" t="t" l="l"/>
              <a:pathLst>
                <a:path h="2258314" w="11098276">
                  <a:moveTo>
                    <a:pt x="0" y="135509"/>
                  </a:moveTo>
                  <a:cubicBezTo>
                    <a:pt x="0" y="60706"/>
                    <a:pt x="60706" y="0"/>
                    <a:pt x="135509" y="0"/>
                  </a:cubicBezTo>
                  <a:lnTo>
                    <a:pt x="10962767" y="0"/>
                  </a:lnTo>
                  <a:cubicBezTo>
                    <a:pt x="11037570" y="0"/>
                    <a:pt x="11098276" y="60706"/>
                    <a:pt x="11098276" y="135509"/>
                  </a:cubicBezTo>
                  <a:lnTo>
                    <a:pt x="11098276" y="2122805"/>
                  </a:lnTo>
                  <a:cubicBezTo>
                    <a:pt x="11098276" y="2197608"/>
                    <a:pt x="11037570" y="2258314"/>
                    <a:pt x="1096276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26" id="26"/>
          <p:cNvSpPr txBox="true"/>
          <p:nvPr/>
        </p:nvSpPr>
        <p:spPr>
          <a:xfrm rot="0">
            <a:off x="9631509" y="2054028"/>
            <a:ext cx="7572718"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GPT-2 weights still eager</a:t>
            </a:r>
          </a:p>
        </p:txBody>
      </p:sp>
      <p:sp>
        <p:nvSpPr>
          <p:cNvPr name="TextBox 27" id="27"/>
          <p:cNvSpPr txBox="true"/>
          <p:nvPr/>
        </p:nvSpPr>
        <p:spPr>
          <a:xfrm rot="0">
            <a:off x="9631509" y="2548185"/>
            <a:ext cx="7572718"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That's why GPT-2 RSS loses to llama.cpp. Written down, not left to be discovered in the table.</a:t>
            </a:r>
          </a:p>
        </p:txBody>
      </p:sp>
      <p:grpSp>
        <p:nvGrpSpPr>
          <p:cNvPr name="Group 28" id="28"/>
          <p:cNvGrpSpPr/>
          <p:nvPr/>
        </p:nvGrpSpPr>
        <p:grpSpPr>
          <a:xfrm rot="0">
            <a:off x="9256004" y="3696681"/>
            <a:ext cx="8323736" cy="1693726"/>
            <a:chOff x="0" y="0"/>
            <a:chExt cx="11098314" cy="2258301"/>
          </a:xfrm>
        </p:grpSpPr>
        <p:sp>
          <p:nvSpPr>
            <p:cNvPr name="Freeform 29" id="29"/>
            <p:cNvSpPr/>
            <p:nvPr/>
          </p:nvSpPr>
          <p:spPr>
            <a:xfrm flipH="false" flipV="false" rot="0">
              <a:off x="0" y="0"/>
              <a:ext cx="11098276" cy="2258314"/>
            </a:xfrm>
            <a:custGeom>
              <a:avLst/>
              <a:gdLst/>
              <a:ahLst/>
              <a:cxnLst/>
              <a:rect r="r" b="b" t="t" l="l"/>
              <a:pathLst>
                <a:path h="2258314" w="11098276">
                  <a:moveTo>
                    <a:pt x="0" y="135509"/>
                  </a:moveTo>
                  <a:cubicBezTo>
                    <a:pt x="0" y="60706"/>
                    <a:pt x="60706" y="0"/>
                    <a:pt x="135509" y="0"/>
                  </a:cubicBezTo>
                  <a:lnTo>
                    <a:pt x="10962767" y="0"/>
                  </a:lnTo>
                  <a:cubicBezTo>
                    <a:pt x="11037570" y="0"/>
                    <a:pt x="11098276" y="60706"/>
                    <a:pt x="11098276" y="135509"/>
                  </a:cubicBezTo>
                  <a:lnTo>
                    <a:pt x="11098276" y="2122805"/>
                  </a:lnTo>
                  <a:cubicBezTo>
                    <a:pt x="11098276" y="2197608"/>
                    <a:pt x="11037570" y="2258314"/>
                    <a:pt x="1096276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30" id="30"/>
          <p:cNvSpPr txBox="true"/>
          <p:nvPr/>
        </p:nvSpPr>
        <p:spPr>
          <a:xfrm rot="0">
            <a:off x="9631509" y="3907126"/>
            <a:ext cx="7572718"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Lazy path is simpler than ggml</a:t>
            </a:r>
          </a:p>
        </p:txBody>
      </p:sp>
      <p:sp>
        <p:nvSpPr>
          <p:cNvPr name="TextBox 31" id="31"/>
          <p:cNvSpPr txBox="true"/>
          <p:nvPr/>
        </p:nvSpPr>
        <p:spPr>
          <a:xfrm rot="0">
            <a:off x="9631509" y="4401293"/>
            <a:ext cx="7572718"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Dequant to f32 scratch, then dot. No int8×int8 kernels. Serial, not thread-pooled — chunk size is for bounded memory, not peak FLOPs.</a:t>
            </a:r>
          </a:p>
        </p:txBody>
      </p:sp>
      <p:grpSp>
        <p:nvGrpSpPr>
          <p:cNvPr name="Group 32" id="32"/>
          <p:cNvGrpSpPr/>
          <p:nvPr/>
        </p:nvGrpSpPr>
        <p:grpSpPr>
          <a:xfrm rot="0">
            <a:off x="9256004" y="5549789"/>
            <a:ext cx="8323736" cy="1693726"/>
            <a:chOff x="0" y="0"/>
            <a:chExt cx="11098314" cy="2258301"/>
          </a:xfrm>
        </p:grpSpPr>
        <p:sp>
          <p:nvSpPr>
            <p:cNvPr name="Freeform 33" id="33"/>
            <p:cNvSpPr/>
            <p:nvPr/>
          </p:nvSpPr>
          <p:spPr>
            <a:xfrm flipH="false" flipV="false" rot="0">
              <a:off x="0" y="0"/>
              <a:ext cx="11098276" cy="2258314"/>
            </a:xfrm>
            <a:custGeom>
              <a:avLst/>
              <a:gdLst/>
              <a:ahLst/>
              <a:cxnLst/>
              <a:rect r="r" b="b" t="t" l="l"/>
              <a:pathLst>
                <a:path h="2258314" w="11098276">
                  <a:moveTo>
                    <a:pt x="0" y="135509"/>
                  </a:moveTo>
                  <a:cubicBezTo>
                    <a:pt x="0" y="60706"/>
                    <a:pt x="60706" y="0"/>
                    <a:pt x="135509" y="0"/>
                  </a:cubicBezTo>
                  <a:lnTo>
                    <a:pt x="10962767" y="0"/>
                  </a:lnTo>
                  <a:cubicBezTo>
                    <a:pt x="11037570" y="0"/>
                    <a:pt x="11098276" y="60706"/>
                    <a:pt x="11098276" y="135509"/>
                  </a:cubicBezTo>
                  <a:lnTo>
                    <a:pt x="11098276" y="2122805"/>
                  </a:lnTo>
                  <a:cubicBezTo>
                    <a:pt x="11098276" y="2197608"/>
                    <a:pt x="11037570" y="2258314"/>
                    <a:pt x="1096276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34" id="34"/>
          <p:cNvSpPr txBox="true"/>
          <p:nvPr/>
        </p:nvSpPr>
        <p:spPr>
          <a:xfrm rot="0">
            <a:off x="9631509" y="5760234"/>
            <a:ext cx="7572718"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No GPU, no LoRA, no batching</a:t>
            </a:r>
          </a:p>
        </p:txBody>
      </p:sp>
      <p:sp>
        <p:nvSpPr>
          <p:cNvPr name="TextBox 35" id="35"/>
          <p:cNvSpPr txBox="true"/>
          <p:nvPr/>
        </p:nvSpPr>
        <p:spPr>
          <a:xfrm rot="0">
            <a:off x="9631509" y="6254401"/>
            <a:ext cx="7572718"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CPU, batch-1, one process. A weekend core, not a production engine.</a:t>
            </a:r>
          </a:p>
        </p:txBody>
      </p:sp>
      <p:grpSp>
        <p:nvGrpSpPr>
          <p:cNvPr name="Group 36" id="36"/>
          <p:cNvGrpSpPr/>
          <p:nvPr/>
        </p:nvGrpSpPr>
        <p:grpSpPr>
          <a:xfrm rot="0">
            <a:off x="9256004" y="7402897"/>
            <a:ext cx="8323736" cy="1693726"/>
            <a:chOff x="0" y="0"/>
            <a:chExt cx="11098314" cy="2258301"/>
          </a:xfrm>
        </p:grpSpPr>
        <p:sp>
          <p:nvSpPr>
            <p:cNvPr name="Freeform 37" id="37"/>
            <p:cNvSpPr/>
            <p:nvPr/>
          </p:nvSpPr>
          <p:spPr>
            <a:xfrm flipH="false" flipV="false" rot="0">
              <a:off x="0" y="0"/>
              <a:ext cx="11098276" cy="2258314"/>
            </a:xfrm>
            <a:custGeom>
              <a:avLst/>
              <a:gdLst/>
              <a:ahLst/>
              <a:cxnLst/>
              <a:rect r="r" b="b" t="t" l="l"/>
              <a:pathLst>
                <a:path h="2258314" w="11098276">
                  <a:moveTo>
                    <a:pt x="0" y="135509"/>
                  </a:moveTo>
                  <a:cubicBezTo>
                    <a:pt x="0" y="60706"/>
                    <a:pt x="60706" y="0"/>
                    <a:pt x="135509" y="0"/>
                  </a:cubicBezTo>
                  <a:lnTo>
                    <a:pt x="10962767" y="0"/>
                  </a:lnTo>
                  <a:cubicBezTo>
                    <a:pt x="11037570" y="0"/>
                    <a:pt x="11098276" y="60706"/>
                    <a:pt x="11098276" y="135509"/>
                  </a:cubicBezTo>
                  <a:lnTo>
                    <a:pt x="11098276" y="2122805"/>
                  </a:lnTo>
                  <a:cubicBezTo>
                    <a:pt x="11098276" y="2197608"/>
                    <a:pt x="11037570" y="2258314"/>
                    <a:pt x="10962767" y="2258314"/>
                  </a:cubicBezTo>
                  <a:lnTo>
                    <a:pt x="135509" y="2258314"/>
                  </a:lnTo>
                  <a:cubicBezTo>
                    <a:pt x="60706" y="2258314"/>
                    <a:pt x="0" y="2197608"/>
                    <a:pt x="0" y="2122805"/>
                  </a:cubicBezTo>
                  <a:close/>
                </a:path>
              </a:pathLst>
            </a:custGeom>
            <a:solidFill>
              <a:srgbClr val="141820"/>
            </a:solidFill>
            <a:ln w="19065" cap="sq">
              <a:solidFill>
                <a:srgbClr val="2A323E"/>
              </a:solidFill>
              <a:prstDash val="solid"/>
              <a:miter/>
            </a:ln>
          </p:spPr>
        </p:sp>
      </p:grpSp>
      <p:sp>
        <p:nvSpPr>
          <p:cNvPr name="TextBox 38" id="38"/>
          <p:cNvSpPr txBox="true"/>
          <p:nvPr/>
        </p:nvSpPr>
        <p:spPr>
          <a:xfrm rot="0">
            <a:off x="9631509" y="7613342"/>
            <a:ext cx="7572718" cy="357340"/>
          </a:xfrm>
          <a:prstGeom prst="rect">
            <a:avLst/>
          </a:prstGeom>
        </p:spPr>
        <p:txBody>
          <a:bodyPr anchor="t" rtlCol="false" tIns="0" lIns="0" bIns="0" rIns="0">
            <a:spAutoFit/>
          </a:bodyPr>
          <a:lstStyle/>
          <a:p>
            <a:pPr algn="l">
              <a:lnSpc>
                <a:spcPts val="2648"/>
              </a:lnSpc>
            </a:pPr>
            <a:r>
              <a:rPr lang="en-US" sz="2101" b="true">
                <a:solidFill>
                  <a:srgbClr val="D29922"/>
                </a:solidFill>
                <a:latin typeface="Segoe UI Bold"/>
                <a:ea typeface="Segoe UI Bold"/>
                <a:cs typeface="Segoe UI Bold"/>
                <a:sym typeface="Segoe UI Bold"/>
              </a:rPr>
              <a:t>Mistral / Gemma2 / BERT skipped</a:t>
            </a:r>
          </a:p>
        </p:txBody>
      </p:sp>
      <p:sp>
        <p:nvSpPr>
          <p:cNvPr name="TextBox 39" id="39"/>
          <p:cNvSpPr txBox="true"/>
          <p:nvPr/>
        </p:nvSpPr>
        <p:spPr>
          <a:xfrm rot="0">
            <a:off x="9631509" y="8107509"/>
            <a:ext cx="7572718" cy="810320"/>
          </a:xfrm>
          <a:prstGeom prst="rect">
            <a:avLst/>
          </a:prstGeom>
        </p:spPr>
        <p:txBody>
          <a:bodyPr anchor="t" rtlCol="false" tIns="0" lIns="0" bIns="0" rIns="0">
            <a:spAutoFit/>
          </a:bodyPr>
          <a:lstStyle/>
          <a:p>
            <a:pPr algn="l">
              <a:lnSpc>
                <a:spcPts val="2269"/>
              </a:lnSpc>
            </a:pPr>
            <a:r>
              <a:rPr lang="en-US" sz="1801">
                <a:solidFill>
                  <a:srgbClr val="8B949E"/>
                </a:solidFill>
                <a:latin typeface="Segoe UI"/>
                <a:ea typeface="Segoe UI"/>
                <a:cs typeface="Segoe UI"/>
                <a:sym typeface="Segoe UI"/>
              </a:rPr>
              <a:t>Mistral's GGUF arch is literally “llama”. Gemma2 adds softcapping and sliding windows. BERT is a different product shape.</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A0C1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9814"/>
            <a:chOff x="0" y="0"/>
            <a:chExt cx="24402453" cy="146418"/>
          </a:xfrm>
        </p:grpSpPr>
        <p:sp>
          <p:nvSpPr>
            <p:cNvPr name="Freeform 3" id="3"/>
            <p:cNvSpPr/>
            <p:nvPr/>
          </p:nvSpPr>
          <p:spPr>
            <a:xfrm flipH="false" flipV="false" rot="0">
              <a:off x="0" y="0"/>
              <a:ext cx="24402414" cy="146431"/>
            </a:xfrm>
            <a:custGeom>
              <a:avLst/>
              <a:gdLst/>
              <a:ahLst/>
              <a:cxnLst/>
              <a:rect r="r" b="b" t="t" l="l"/>
              <a:pathLst>
                <a:path h="146431" w="24402414">
                  <a:moveTo>
                    <a:pt x="0" y="0"/>
                  </a:moveTo>
                  <a:lnTo>
                    <a:pt x="24402414" y="0"/>
                  </a:lnTo>
                  <a:lnTo>
                    <a:pt x="24402414" y="146431"/>
                  </a:lnTo>
                  <a:lnTo>
                    <a:pt x="0" y="146431"/>
                  </a:lnTo>
                  <a:close/>
                </a:path>
              </a:pathLst>
            </a:custGeom>
            <a:solidFill>
              <a:srgbClr val="3FB950"/>
            </a:solidFill>
          </p:spPr>
        </p:sp>
      </p:grpSp>
      <p:grpSp>
        <p:nvGrpSpPr>
          <p:cNvPr name="Group 4" id="4"/>
          <p:cNvGrpSpPr/>
          <p:nvPr/>
        </p:nvGrpSpPr>
        <p:grpSpPr>
          <a:xfrm rot="0">
            <a:off x="0" y="10185225"/>
            <a:ext cx="18301840" cy="109814"/>
            <a:chOff x="0" y="0"/>
            <a:chExt cx="24402453" cy="146418"/>
          </a:xfrm>
        </p:grpSpPr>
        <p:sp>
          <p:nvSpPr>
            <p:cNvPr name="Freeform 5" id="5"/>
            <p:cNvSpPr/>
            <p:nvPr/>
          </p:nvSpPr>
          <p:spPr>
            <a:xfrm flipH="false" flipV="false" rot="0">
              <a:off x="0" y="0"/>
              <a:ext cx="24402414" cy="146431"/>
            </a:xfrm>
            <a:custGeom>
              <a:avLst/>
              <a:gdLst/>
              <a:ahLst/>
              <a:cxnLst/>
              <a:rect r="r" b="b" t="t" l="l"/>
              <a:pathLst>
                <a:path h="146431" w="24402414">
                  <a:moveTo>
                    <a:pt x="0" y="0"/>
                  </a:moveTo>
                  <a:lnTo>
                    <a:pt x="24402414" y="0"/>
                  </a:lnTo>
                  <a:lnTo>
                    <a:pt x="24402414" y="146431"/>
                  </a:lnTo>
                  <a:lnTo>
                    <a:pt x="0" y="146431"/>
                  </a:lnTo>
                  <a:close/>
                </a:path>
              </a:pathLst>
            </a:custGeom>
            <a:solidFill>
              <a:srgbClr val="3FB950"/>
            </a:solidFill>
          </p:spPr>
        </p:sp>
      </p:grpSp>
      <p:sp>
        <p:nvSpPr>
          <p:cNvPr name="TextBox 6" id="6"/>
          <p:cNvSpPr txBox="true"/>
          <p:nvPr/>
        </p:nvSpPr>
        <p:spPr>
          <a:xfrm rot="0">
            <a:off x="1052312" y="1614764"/>
            <a:ext cx="16289188" cy="398516"/>
          </a:xfrm>
          <a:prstGeom prst="rect">
            <a:avLst/>
          </a:prstGeom>
        </p:spPr>
        <p:txBody>
          <a:bodyPr anchor="t" rtlCol="false" tIns="0" lIns="0" bIns="0" rIns="0">
            <a:spAutoFit/>
          </a:bodyPr>
          <a:lstStyle/>
          <a:p>
            <a:pPr algn="l">
              <a:lnSpc>
                <a:spcPts val="2269"/>
              </a:lnSpc>
            </a:pPr>
            <a:r>
              <a:rPr lang="en-US" sz="1801" b="true">
                <a:solidFill>
                  <a:srgbClr val="3FB950"/>
                </a:solidFill>
                <a:latin typeface="Segoe UI Bold"/>
                <a:ea typeface="Segoe UI Bold"/>
                <a:cs typeface="Segoe UI Bold"/>
                <a:sym typeface="Segoe UI Bold"/>
              </a:rPr>
              <a:t>NOTHING HERE IS A BLACK BOX</a:t>
            </a:r>
          </a:p>
        </p:txBody>
      </p:sp>
      <p:sp>
        <p:nvSpPr>
          <p:cNvPr name="TextBox 7" id="7"/>
          <p:cNvSpPr txBox="true"/>
          <p:nvPr/>
        </p:nvSpPr>
        <p:spPr>
          <a:xfrm rot="0">
            <a:off x="1052312" y="2213419"/>
            <a:ext cx="16289188" cy="1172537"/>
          </a:xfrm>
          <a:prstGeom prst="rect">
            <a:avLst/>
          </a:prstGeom>
        </p:spPr>
        <p:txBody>
          <a:bodyPr anchor="t" rtlCol="false" tIns="0" lIns="0" bIns="0" rIns="0">
            <a:spAutoFit/>
          </a:bodyPr>
          <a:lstStyle/>
          <a:p>
            <a:pPr algn="l">
              <a:lnSpc>
                <a:spcPts val="6052"/>
              </a:lnSpc>
            </a:pPr>
            <a:r>
              <a:rPr lang="en-US" sz="4803" b="true">
                <a:solidFill>
                  <a:srgbClr val="FFFFFF"/>
                </a:solidFill>
                <a:latin typeface="Segoe UI Bold"/>
                <a:ea typeface="Segoe UI Bold"/>
                <a:cs typeface="Segoe UI Bold"/>
                <a:sym typeface="Segoe UI Bold"/>
              </a:rPr>
              <a:t>Every package. Every file. Every mistake.</a:t>
            </a:r>
          </a:p>
        </p:txBody>
      </p:sp>
      <p:grpSp>
        <p:nvGrpSpPr>
          <p:cNvPr name="Group 8" id="8"/>
          <p:cNvGrpSpPr/>
          <p:nvPr/>
        </p:nvGrpSpPr>
        <p:grpSpPr>
          <a:xfrm rot="0">
            <a:off x="951338" y="3696681"/>
            <a:ext cx="8117834" cy="1776089"/>
            <a:chOff x="0" y="0"/>
            <a:chExt cx="10823778" cy="2368118"/>
          </a:xfrm>
        </p:grpSpPr>
        <p:sp>
          <p:nvSpPr>
            <p:cNvPr name="Freeform 9" id="9"/>
            <p:cNvSpPr/>
            <p:nvPr/>
          </p:nvSpPr>
          <p:spPr>
            <a:xfrm flipH="false" flipV="false" rot="0">
              <a:off x="0" y="0"/>
              <a:ext cx="10823829" cy="2368169"/>
            </a:xfrm>
            <a:custGeom>
              <a:avLst/>
              <a:gdLst/>
              <a:ahLst/>
              <a:cxnLst/>
              <a:rect r="r" b="b" t="t" l="l"/>
              <a:pathLst>
                <a:path h="2368169" w="10823829">
                  <a:moveTo>
                    <a:pt x="0" y="142113"/>
                  </a:moveTo>
                  <a:cubicBezTo>
                    <a:pt x="0" y="63627"/>
                    <a:pt x="63627" y="0"/>
                    <a:pt x="142113" y="0"/>
                  </a:cubicBezTo>
                  <a:lnTo>
                    <a:pt x="10681716" y="0"/>
                  </a:lnTo>
                  <a:cubicBezTo>
                    <a:pt x="10760202" y="0"/>
                    <a:pt x="10823829" y="63627"/>
                    <a:pt x="10823829" y="142113"/>
                  </a:cubicBezTo>
                  <a:lnTo>
                    <a:pt x="10823829" y="2226056"/>
                  </a:lnTo>
                  <a:cubicBezTo>
                    <a:pt x="10823829" y="2304542"/>
                    <a:pt x="10760202" y="2368169"/>
                    <a:pt x="10681716" y="2368169"/>
                  </a:cubicBezTo>
                  <a:lnTo>
                    <a:pt x="142113" y="2368169"/>
                  </a:lnTo>
                  <a:cubicBezTo>
                    <a:pt x="63627" y="2368169"/>
                    <a:pt x="0" y="2304542"/>
                    <a:pt x="0" y="2226056"/>
                  </a:cubicBezTo>
                  <a:close/>
                </a:path>
              </a:pathLst>
            </a:custGeom>
            <a:solidFill>
              <a:srgbClr val="141820"/>
            </a:solidFill>
            <a:ln w="19065" cap="sq">
              <a:solidFill>
                <a:srgbClr val="2A323E"/>
              </a:solidFill>
              <a:prstDash val="solid"/>
              <a:miter/>
            </a:ln>
          </p:spPr>
        </p:sp>
      </p:grpSp>
      <p:sp>
        <p:nvSpPr>
          <p:cNvPr name="TextBox 10" id="10"/>
          <p:cNvSpPr txBox="true"/>
          <p:nvPr/>
        </p:nvSpPr>
        <p:spPr>
          <a:xfrm rot="0">
            <a:off x="1395479" y="3932339"/>
            <a:ext cx="7229551"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STDLIB.md</a:t>
            </a:r>
          </a:p>
        </p:txBody>
      </p:sp>
      <p:sp>
        <p:nvSpPr>
          <p:cNvPr name="TextBox 11" id="11"/>
          <p:cNvSpPr txBox="true"/>
          <p:nvPr/>
        </p:nvSpPr>
        <p:spPr>
          <a:xfrm rot="0">
            <a:off x="1395479" y="4538558"/>
            <a:ext cx="7229551" cy="604418"/>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Every package this would normally need, and exactly what replaced it.</a:t>
            </a:r>
          </a:p>
        </p:txBody>
      </p:sp>
      <p:grpSp>
        <p:nvGrpSpPr>
          <p:cNvPr name="Group 12" id="12"/>
          <p:cNvGrpSpPr/>
          <p:nvPr/>
        </p:nvGrpSpPr>
        <p:grpSpPr>
          <a:xfrm rot="0">
            <a:off x="9393269" y="3696681"/>
            <a:ext cx="8117834" cy="1776089"/>
            <a:chOff x="0" y="0"/>
            <a:chExt cx="10823778" cy="2368118"/>
          </a:xfrm>
        </p:grpSpPr>
        <p:sp>
          <p:nvSpPr>
            <p:cNvPr name="Freeform 13" id="13"/>
            <p:cNvSpPr/>
            <p:nvPr/>
          </p:nvSpPr>
          <p:spPr>
            <a:xfrm flipH="false" flipV="false" rot="0">
              <a:off x="0" y="0"/>
              <a:ext cx="10823829" cy="2368169"/>
            </a:xfrm>
            <a:custGeom>
              <a:avLst/>
              <a:gdLst/>
              <a:ahLst/>
              <a:cxnLst/>
              <a:rect r="r" b="b" t="t" l="l"/>
              <a:pathLst>
                <a:path h="2368169" w="10823829">
                  <a:moveTo>
                    <a:pt x="0" y="142113"/>
                  </a:moveTo>
                  <a:cubicBezTo>
                    <a:pt x="0" y="63627"/>
                    <a:pt x="63627" y="0"/>
                    <a:pt x="142113" y="0"/>
                  </a:cubicBezTo>
                  <a:lnTo>
                    <a:pt x="10681716" y="0"/>
                  </a:lnTo>
                  <a:cubicBezTo>
                    <a:pt x="10760202" y="0"/>
                    <a:pt x="10823829" y="63627"/>
                    <a:pt x="10823829" y="142113"/>
                  </a:cubicBezTo>
                  <a:lnTo>
                    <a:pt x="10823829" y="2226056"/>
                  </a:lnTo>
                  <a:cubicBezTo>
                    <a:pt x="10823829" y="2304542"/>
                    <a:pt x="10760202" y="2368169"/>
                    <a:pt x="10681716" y="2368169"/>
                  </a:cubicBezTo>
                  <a:lnTo>
                    <a:pt x="142113" y="2368169"/>
                  </a:lnTo>
                  <a:cubicBezTo>
                    <a:pt x="63627" y="2368169"/>
                    <a:pt x="0" y="2304542"/>
                    <a:pt x="0" y="2226056"/>
                  </a:cubicBezTo>
                  <a:close/>
                </a:path>
              </a:pathLst>
            </a:custGeom>
            <a:solidFill>
              <a:srgbClr val="141820"/>
            </a:solidFill>
            <a:ln w="19065" cap="sq">
              <a:solidFill>
                <a:srgbClr val="2A323E"/>
              </a:solidFill>
              <a:prstDash val="solid"/>
              <a:miter/>
            </a:ln>
          </p:spPr>
        </p:sp>
      </p:grpSp>
      <p:sp>
        <p:nvSpPr>
          <p:cNvPr name="TextBox 14" id="14"/>
          <p:cNvSpPr txBox="true"/>
          <p:nvPr/>
        </p:nvSpPr>
        <p:spPr>
          <a:xfrm rot="0">
            <a:off x="9837410" y="3932339"/>
            <a:ext cx="7229551"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ARCHITECTURE.md</a:t>
            </a:r>
          </a:p>
        </p:txBody>
      </p:sp>
      <p:sp>
        <p:nvSpPr>
          <p:cNvPr name="TextBox 15" id="15"/>
          <p:cNvSpPr txBox="true"/>
          <p:nvPr/>
        </p:nvSpPr>
        <p:spPr>
          <a:xfrm rot="0">
            <a:off x="9837410" y="4538558"/>
            <a:ext cx="7229551" cy="604418"/>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Every file, in order, for a human who has never seen the tree.</a:t>
            </a:r>
          </a:p>
        </p:txBody>
      </p:sp>
      <p:grpSp>
        <p:nvGrpSpPr>
          <p:cNvPr name="Group 16" id="16"/>
          <p:cNvGrpSpPr/>
          <p:nvPr/>
        </p:nvGrpSpPr>
        <p:grpSpPr>
          <a:xfrm rot="0">
            <a:off x="951338" y="5687054"/>
            <a:ext cx="8117834" cy="1776089"/>
            <a:chOff x="0" y="0"/>
            <a:chExt cx="10823778" cy="2368118"/>
          </a:xfrm>
        </p:grpSpPr>
        <p:sp>
          <p:nvSpPr>
            <p:cNvPr name="Freeform 17" id="17"/>
            <p:cNvSpPr/>
            <p:nvPr/>
          </p:nvSpPr>
          <p:spPr>
            <a:xfrm flipH="false" flipV="false" rot="0">
              <a:off x="0" y="0"/>
              <a:ext cx="10823829" cy="2368169"/>
            </a:xfrm>
            <a:custGeom>
              <a:avLst/>
              <a:gdLst/>
              <a:ahLst/>
              <a:cxnLst/>
              <a:rect r="r" b="b" t="t" l="l"/>
              <a:pathLst>
                <a:path h="2368169" w="10823829">
                  <a:moveTo>
                    <a:pt x="0" y="142113"/>
                  </a:moveTo>
                  <a:cubicBezTo>
                    <a:pt x="0" y="63627"/>
                    <a:pt x="63627" y="0"/>
                    <a:pt x="142113" y="0"/>
                  </a:cubicBezTo>
                  <a:lnTo>
                    <a:pt x="10681716" y="0"/>
                  </a:lnTo>
                  <a:cubicBezTo>
                    <a:pt x="10760202" y="0"/>
                    <a:pt x="10823829" y="63627"/>
                    <a:pt x="10823829" y="142113"/>
                  </a:cubicBezTo>
                  <a:lnTo>
                    <a:pt x="10823829" y="2226056"/>
                  </a:lnTo>
                  <a:cubicBezTo>
                    <a:pt x="10823829" y="2304542"/>
                    <a:pt x="10760202" y="2368169"/>
                    <a:pt x="10681716" y="2368169"/>
                  </a:cubicBezTo>
                  <a:lnTo>
                    <a:pt x="142113" y="2368169"/>
                  </a:lnTo>
                  <a:cubicBezTo>
                    <a:pt x="63627" y="2368169"/>
                    <a:pt x="0" y="2304542"/>
                    <a:pt x="0" y="2226056"/>
                  </a:cubicBezTo>
                  <a:close/>
                </a:path>
              </a:pathLst>
            </a:custGeom>
            <a:solidFill>
              <a:srgbClr val="141820"/>
            </a:solidFill>
            <a:ln w="19065" cap="sq">
              <a:solidFill>
                <a:srgbClr val="2A323E"/>
              </a:solidFill>
              <a:prstDash val="solid"/>
              <a:miter/>
            </a:ln>
          </p:spPr>
        </p:sp>
      </p:grpSp>
      <p:sp>
        <p:nvSpPr>
          <p:cNvPr name="TextBox 18" id="18"/>
          <p:cNvSpPr txBox="true"/>
          <p:nvPr/>
        </p:nvSpPr>
        <p:spPr>
          <a:xfrm rot="0">
            <a:off x="1395479" y="5922721"/>
            <a:ext cx="7229551"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BUILDLOG.md</a:t>
            </a:r>
          </a:p>
        </p:txBody>
      </p:sp>
      <p:sp>
        <p:nvSpPr>
          <p:cNvPr name="TextBox 19" id="19"/>
          <p:cNvSpPr txBox="true"/>
          <p:nvPr/>
        </p:nvSpPr>
        <p:spPr>
          <a:xfrm rot="0">
            <a:off x="1395479" y="6528940"/>
            <a:ext cx="7229551" cy="604418"/>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What was tried, including what made things worse.</a:t>
            </a:r>
          </a:p>
        </p:txBody>
      </p:sp>
      <p:grpSp>
        <p:nvGrpSpPr>
          <p:cNvPr name="Group 20" id="20"/>
          <p:cNvGrpSpPr/>
          <p:nvPr/>
        </p:nvGrpSpPr>
        <p:grpSpPr>
          <a:xfrm rot="0">
            <a:off x="9393269" y="5687054"/>
            <a:ext cx="8117834" cy="1776089"/>
            <a:chOff x="0" y="0"/>
            <a:chExt cx="10823778" cy="2368118"/>
          </a:xfrm>
        </p:grpSpPr>
        <p:sp>
          <p:nvSpPr>
            <p:cNvPr name="Freeform 21" id="21"/>
            <p:cNvSpPr/>
            <p:nvPr/>
          </p:nvSpPr>
          <p:spPr>
            <a:xfrm flipH="false" flipV="false" rot="0">
              <a:off x="0" y="0"/>
              <a:ext cx="10823829" cy="2368169"/>
            </a:xfrm>
            <a:custGeom>
              <a:avLst/>
              <a:gdLst/>
              <a:ahLst/>
              <a:cxnLst/>
              <a:rect r="r" b="b" t="t" l="l"/>
              <a:pathLst>
                <a:path h="2368169" w="10823829">
                  <a:moveTo>
                    <a:pt x="0" y="142113"/>
                  </a:moveTo>
                  <a:cubicBezTo>
                    <a:pt x="0" y="63627"/>
                    <a:pt x="63627" y="0"/>
                    <a:pt x="142113" y="0"/>
                  </a:cubicBezTo>
                  <a:lnTo>
                    <a:pt x="10681716" y="0"/>
                  </a:lnTo>
                  <a:cubicBezTo>
                    <a:pt x="10760202" y="0"/>
                    <a:pt x="10823829" y="63627"/>
                    <a:pt x="10823829" y="142113"/>
                  </a:cubicBezTo>
                  <a:lnTo>
                    <a:pt x="10823829" y="2226056"/>
                  </a:lnTo>
                  <a:cubicBezTo>
                    <a:pt x="10823829" y="2304542"/>
                    <a:pt x="10760202" y="2368169"/>
                    <a:pt x="10681716" y="2368169"/>
                  </a:cubicBezTo>
                  <a:lnTo>
                    <a:pt x="142113" y="2368169"/>
                  </a:lnTo>
                  <a:cubicBezTo>
                    <a:pt x="63627" y="2368169"/>
                    <a:pt x="0" y="2304542"/>
                    <a:pt x="0" y="2226056"/>
                  </a:cubicBezTo>
                  <a:close/>
                </a:path>
              </a:pathLst>
            </a:custGeom>
            <a:solidFill>
              <a:srgbClr val="141820"/>
            </a:solidFill>
            <a:ln w="19065" cap="sq">
              <a:solidFill>
                <a:srgbClr val="2A323E"/>
              </a:solidFill>
              <a:prstDash val="solid"/>
              <a:miter/>
            </a:ln>
          </p:spPr>
        </p:sp>
      </p:grpSp>
      <p:sp>
        <p:nvSpPr>
          <p:cNvPr name="TextBox 22" id="22"/>
          <p:cNvSpPr txBox="true"/>
          <p:nvPr/>
        </p:nvSpPr>
        <p:spPr>
          <a:xfrm rot="0">
            <a:off x="9837410" y="5922721"/>
            <a:ext cx="7229551" cy="455666"/>
          </a:xfrm>
          <a:prstGeom prst="rect">
            <a:avLst/>
          </a:prstGeom>
        </p:spPr>
        <p:txBody>
          <a:bodyPr anchor="t" rtlCol="false" tIns="0" lIns="0" bIns="0" rIns="0">
            <a:spAutoFit/>
          </a:bodyPr>
          <a:lstStyle/>
          <a:p>
            <a:pPr algn="l">
              <a:lnSpc>
                <a:spcPts val="3026"/>
              </a:lnSpc>
            </a:pPr>
            <a:r>
              <a:rPr lang="en-US" sz="2401" b="true">
                <a:solidFill>
                  <a:srgbClr val="3FB950"/>
                </a:solidFill>
                <a:latin typeface="Consolas Bold"/>
                <a:ea typeface="Consolas Bold"/>
                <a:cs typeface="Consolas Bold"/>
                <a:sym typeface="Consolas Bold"/>
              </a:rPr>
              <a:t>deps-proof.txt</a:t>
            </a:r>
          </a:p>
        </p:txBody>
      </p:sp>
      <p:sp>
        <p:nvSpPr>
          <p:cNvPr name="TextBox 23" id="23"/>
          <p:cNvSpPr txBox="true"/>
          <p:nvPr/>
        </p:nvSpPr>
        <p:spPr>
          <a:xfrm rot="0">
            <a:off x="9837410" y="6528940"/>
            <a:ext cx="7229551" cy="604418"/>
          </a:xfrm>
          <a:prstGeom prst="rect">
            <a:avLst/>
          </a:prstGeom>
        </p:spPr>
        <p:txBody>
          <a:bodyPr anchor="t" rtlCol="false" tIns="0" lIns="0" bIns="0" rIns="0">
            <a:spAutoFit/>
          </a:bodyPr>
          <a:lstStyle/>
          <a:p>
            <a:pPr algn="l">
              <a:lnSpc>
                <a:spcPts val="2458"/>
              </a:lnSpc>
            </a:pPr>
            <a:r>
              <a:rPr lang="en-US" sz="1951">
                <a:solidFill>
                  <a:srgbClr val="8B949E"/>
                </a:solidFill>
                <a:latin typeface="Segoe UI"/>
                <a:ea typeface="Segoe UI"/>
                <a:cs typeface="Segoe UI"/>
                <a:sym typeface="Segoe UI"/>
              </a:rPr>
              <a:t>ldd, the empty grep, the machine the numbers came from.</a:t>
            </a:r>
          </a:p>
        </p:txBody>
      </p:sp>
      <p:sp>
        <p:nvSpPr>
          <p:cNvPr name="TextBox 24" id="24"/>
          <p:cNvSpPr txBox="true"/>
          <p:nvPr/>
        </p:nvSpPr>
        <p:spPr>
          <a:xfrm rot="0">
            <a:off x="1052312" y="7862383"/>
            <a:ext cx="16289188" cy="533829"/>
          </a:xfrm>
          <a:prstGeom prst="rect">
            <a:avLst/>
          </a:prstGeom>
        </p:spPr>
        <p:txBody>
          <a:bodyPr anchor="t" rtlCol="false" tIns="0" lIns="0" bIns="0" rIns="0">
            <a:spAutoFit/>
          </a:bodyPr>
          <a:lstStyle/>
          <a:p>
            <a:pPr algn="l">
              <a:lnSpc>
                <a:spcPts val="3404"/>
              </a:lnSpc>
            </a:pPr>
            <a:r>
              <a:rPr lang="en-US" sz="2702">
                <a:solidFill>
                  <a:srgbClr val="ECF1F5"/>
                </a:solidFill>
                <a:latin typeface="Consolas"/>
                <a:ea typeface="Consolas"/>
                <a:cs typeface="Consolas"/>
                <a:sym typeface="Consolas"/>
              </a:rPr>
              <a:t>make &amp;&amp; ./llamini --test</a:t>
            </a:r>
          </a:p>
        </p:txBody>
      </p:sp>
      <p:sp>
        <p:nvSpPr>
          <p:cNvPr name="TextBox 25" id="25"/>
          <p:cNvSpPr txBox="true"/>
          <p:nvPr/>
        </p:nvSpPr>
        <p:spPr>
          <a:xfrm rot="0">
            <a:off x="1052312" y="8546763"/>
            <a:ext cx="16289188" cy="467154"/>
          </a:xfrm>
          <a:prstGeom prst="rect">
            <a:avLst/>
          </a:prstGeom>
        </p:spPr>
        <p:txBody>
          <a:bodyPr anchor="t" rtlCol="false" tIns="0" lIns="0" bIns="0" rIns="0">
            <a:spAutoFit/>
          </a:bodyPr>
          <a:lstStyle/>
          <a:p>
            <a:pPr algn="l">
              <a:lnSpc>
                <a:spcPts val="2648"/>
              </a:lnSpc>
            </a:pPr>
            <a:r>
              <a:rPr lang="en-US" sz="2101">
                <a:solidFill>
                  <a:srgbClr val="5A6470"/>
                </a:solidFill>
                <a:latin typeface="Segoe UI"/>
                <a:ea typeface="Segoe UI"/>
                <a:cs typeface="Segoe UI"/>
                <a:sym typeface="Segoe UI"/>
              </a:rPr>
              <a:t>Questions — start with the tape, STDLIB.md, or the memory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DAHT3GW0ZO4</dc:identifier>
  <dcterms:modified xsi:type="dcterms:W3CDTF">2011-08-01T06:04:30Z</dcterms:modified>
  <cp:revision>1</cp:revision>
  <dc:title>llamini-pitch.pptx</dc:title>
</cp:coreProperties>
</file>